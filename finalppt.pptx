
<file path=[Content_Types].xml><?xml version="1.0" encoding="utf-8"?>
<Types xmlns="http://schemas.openxmlformats.org/package/2006/content-types">
  <Default Extension="jpeg" ContentType="image/jpeg"/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60" r:id="rId2"/>
  </p:sldMasterIdLst>
  <p:notesMasterIdLst>
    <p:notesMasterId r:id="rId24"/>
  </p:notesMasterIdLst>
  <p:sldIdLst>
    <p:sldId id="259" r:id="rId3"/>
    <p:sldId id="258" r:id="rId4"/>
    <p:sldId id="260" r:id="rId5"/>
    <p:sldId id="261" r:id="rId6"/>
    <p:sldId id="277" r:id="rId7"/>
    <p:sldId id="278" r:id="rId8"/>
    <p:sldId id="264" r:id="rId9"/>
    <p:sldId id="265" r:id="rId10"/>
    <p:sldId id="287" r:id="rId11"/>
    <p:sldId id="273" r:id="rId12"/>
    <p:sldId id="282" r:id="rId13"/>
    <p:sldId id="283" r:id="rId14"/>
    <p:sldId id="284" r:id="rId15"/>
    <p:sldId id="285" r:id="rId16"/>
    <p:sldId id="289" r:id="rId17"/>
    <p:sldId id="288" r:id="rId18"/>
    <p:sldId id="291" r:id="rId19"/>
    <p:sldId id="290" r:id="rId20"/>
    <p:sldId id="275" r:id="rId21"/>
    <p:sldId id="276" r:id="rId22"/>
    <p:sldId id="271" r:id="rId2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9CF1AB2-1976-4502-BF36-3FF5EA218861}" styleName="中度样式 4 - 强调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viewProps" Target="viewProps.xml"/><Relationship Id="rId3" Type="http://schemas.openxmlformats.org/officeDocument/2006/relationships/slide" Target="slides/slide1.xml"/><Relationship Id="rId21" Type="http://schemas.openxmlformats.org/officeDocument/2006/relationships/slide" Target="slides/slide19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presProps" Target="presProp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notesMaster" Target="notesMasters/notesMaster1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tableStyles" Target="tableStyles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5F644E8-843A-47E7-90C4-3736185811A9}" type="datetimeFigureOut">
              <a:rPr lang="en-IN" smtClean="0"/>
              <a:t>04-06-2025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77D62AB-55FA-4179-8C2F-DC1A56BD9E7B}" type="slidenum">
              <a:rPr lang="en-IN" smtClean="0"/>
              <a:t>‹#›</a:t>
            </a:fld>
            <a:endParaRPr lang="en-I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77D62AB-55FA-4179-8C2F-DC1A56BD9E7B}" type="slidenum">
              <a:rPr lang="en-IN" smtClean="0"/>
              <a:t>20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6467251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455620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F05852-2F84-49EC-88AD-3B02F6D7B016}" type="datetime5">
              <a:rPr lang="en-US" smtClean="0"/>
              <a:t>4-Jun-25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20CS8504 - PROJECT WORK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3B2B34-D4BB-400B-9ED9-C7A04F52518B}" type="slidenum">
              <a:rPr lang="en-IN" smtClean="0"/>
              <a:t>‹#›</a:t>
            </a:fld>
            <a:endParaRPr lang="en-IN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marL="0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F24D60-CAE6-46AD-9D0B-C02F7B1293EF}" type="datetime5">
              <a:rPr lang="en-US" smtClean="0"/>
              <a:t>4-Jun-25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20CS8504 - PROJECT WORK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3B2B34-D4BB-400B-9ED9-C7A04F52518B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453128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D16E8C-EB8A-425C-9BA2-E4B539351587}" type="datetime5">
              <a:rPr lang="en-US" smtClean="0"/>
              <a:t>4-Jun-25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20CS8504 - PROJECT WORK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3B2B34-D4BB-400B-9ED9-C7A04F52518B}" type="slidenum">
              <a:rPr lang="en-IN" smtClean="0"/>
              <a:t>‹#›</a:t>
            </a:fld>
            <a:endParaRPr lang="en-IN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79" y="1845734"/>
            <a:ext cx="493776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17920" y="1845735"/>
            <a:ext cx="493776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0D1A98-9E99-4DBE-BE49-5C29F2DAD81F}" type="datetime5">
              <a:rPr lang="en-US" smtClean="0"/>
              <a:t>4-Jun-25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20CS8504 - PROJECT WORK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3B2B34-D4BB-400B-9ED9-C7A04F52518B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582334"/>
            <a:ext cx="4937760" cy="3378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1792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920" y="2582334"/>
            <a:ext cx="4937760" cy="3378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5E2BA5-1E09-47F1-9112-70406D5B8D86}" type="datetime5">
              <a:rPr lang="en-US" smtClean="0"/>
              <a:t>4-Jun-25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20CS8504 - PROJECT WORK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3B2B34-D4BB-400B-9ED9-C7A04F52518B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32384F-C4AE-4D39-8526-1E50E83AE1C8}" type="datetime5">
              <a:rPr lang="en-US" smtClean="0"/>
              <a:t>4-Jun-25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20CS8504 - PROJECT WORK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3B2B34-D4BB-400B-9ED9-C7A04F52518B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FEB1EC-7644-46B1-B043-E77E363DD1BF}" type="datetime5">
              <a:rPr lang="en-US" smtClean="0"/>
              <a:t>4-Jun-25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r>
              <a:rPr lang="en-IN"/>
              <a:t>20CS8504 - PROJECT WORK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3B2B34-D4BB-400B-9ED9-C7A04F52518B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94359"/>
            <a:ext cx="32004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00600" y="731520"/>
            <a:ext cx="6492240" cy="5257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926080"/>
            <a:ext cx="32004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65512" y="6459785"/>
            <a:ext cx="2618510" cy="365125"/>
          </a:xfrm>
        </p:spPr>
        <p:txBody>
          <a:bodyPr/>
          <a:lstStyle>
            <a:lvl1pPr algn="l">
              <a:defRPr/>
            </a:lvl1pPr>
          </a:lstStyle>
          <a:p>
            <a:fld id="{3ED24307-004F-4D63-97B7-8D6DE685304F}" type="datetime5">
              <a:rPr lang="en-US" smtClean="0"/>
              <a:t>4-Jun-25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800600" y="6459785"/>
            <a:ext cx="464820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r>
              <a:rPr lang="en-IN"/>
              <a:t>20CS8504 - PROJECT WORK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963B2B34-D4BB-400B-9ED9-C7A04F52518B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4953000"/>
            <a:ext cx="12188825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5" y="491507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5074920"/>
            <a:ext cx="10113264" cy="822960"/>
          </a:xfrm>
        </p:spPr>
        <p:txBody>
          <a:bodyPr lIns="91440" tIns="0" rIns="9144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915076"/>
          </a:xfrm>
          <a:blipFill>
            <a:blip r:embed="rId2"/>
            <a:stretch>
              <a:fillRect/>
            </a:stretch>
          </a:blipFill>
        </p:spPr>
        <p:txBody>
          <a:bodyPr lIns="457200" tIns="457200" anchor="t"/>
          <a:lstStyle>
            <a:lvl1pPr marL="0" indent="0">
              <a:buNone/>
              <a:defRPr sz="32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80" y="5907023"/>
            <a:ext cx="10113264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E9C8EC-8C69-4057-B3C8-663916D34427}" type="datetime5">
              <a:rPr lang="en-US" smtClean="0"/>
              <a:t>4-Jun-25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20CS8504 - PROJECT WORK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3B2B34-D4BB-400B-9ED9-C7A04F52518B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A367C9-BD22-43D1-A5E7-BAE29681C0FC}" type="datetime5">
              <a:rPr lang="en-US" smtClean="0"/>
              <a:t>4-Jun-25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20CS8504 - PROJECT WORK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3B2B34-D4BB-400B-9ED9-C7A04F52518B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414778"/>
            <a:ext cx="2628900" cy="5757421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414778"/>
            <a:ext cx="7734300" cy="5757422"/>
          </a:xfrm>
        </p:spPr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5545D5-DA7C-4AA1-872D-DAC5E7C7168B}" type="datetime5">
              <a:rPr lang="en-US" smtClean="0"/>
              <a:t>4-Jun-25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20CS8504 - PROJECT WORK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3B2B34-D4BB-400B-9ED9-C7A04F52518B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F05852-2F84-49EC-88AD-3B02F6D7B016}" type="datetime5">
              <a:rPr lang="en-US" smtClean="0"/>
              <a:t>4-Jun-25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20CS8504 - PROJECT WORK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3B2B34-D4BB-400B-9ED9-C7A04F52518B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F24D60-CAE6-46AD-9D0B-C02F7B1293EF}" type="datetime5">
              <a:rPr lang="en-US" smtClean="0"/>
              <a:t>4-Jun-25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20CS8504 - PROJECT WORK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3B2B34-D4BB-400B-9ED9-C7A04F52518B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D16E8C-EB8A-425C-9BA2-E4B539351587}" type="datetime5">
              <a:rPr lang="en-US" smtClean="0"/>
              <a:t>4-Jun-25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20CS8504 - PROJECT WORK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3B2B34-D4BB-400B-9ED9-C7A04F52518B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0D1A98-9E99-4DBE-BE49-5C29F2DAD81F}" type="datetime5">
              <a:rPr lang="en-US" smtClean="0"/>
              <a:t>4-Jun-25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20CS8504 - PROJECT WORK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3B2B34-D4BB-400B-9ED9-C7A04F52518B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5E2BA5-1E09-47F1-9112-70406D5B8D86}" type="datetime5">
              <a:rPr lang="en-US" smtClean="0"/>
              <a:t>4-Jun-25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20CS8504 - PROJECT WORK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3B2B34-D4BB-400B-9ED9-C7A04F52518B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32384F-C4AE-4D39-8526-1E50E83AE1C8}" type="datetime5">
              <a:rPr lang="en-US" smtClean="0"/>
              <a:t>4-Jun-25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20CS8504 - PROJECT WORK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3B2B34-D4BB-400B-9ED9-C7A04F52518B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FEB1EC-7644-46B1-B043-E77E363DD1BF}" type="datetime5">
              <a:rPr lang="en-US" smtClean="0"/>
              <a:t>4-Jun-25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20CS8504 - PROJECT WORK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3B2B34-D4BB-400B-9ED9-C7A04F52518B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D24307-004F-4D63-97B7-8D6DE685304F}" type="datetime5">
              <a:rPr lang="en-US" smtClean="0"/>
              <a:t>4-Jun-25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20CS8504 - PROJECT WORK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3B2B34-D4BB-400B-9ED9-C7A04F52518B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E9C8EC-8C69-4057-B3C8-663916D34427}" type="datetime5">
              <a:rPr lang="en-US" smtClean="0"/>
              <a:t>4-Jun-25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20CS8504 - PROJECT WORK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3B2B34-D4BB-400B-9ED9-C7A04F52518B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A367C9-BD22-43D1-A5E7-BAE29681C0FC}" type="datetime5">
              <a:rPr lang="en-US" smtClean="0"/>
              <a:t>4-Jun-25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20CS8504 - PROJECT WORK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3B2B34-D4BB-400B-9ED9-C7A04F52518B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5545D5-DA7C-4AA1-872D-DAC5E7C7168B}" type="datetime5">
              <a:rPr lang="en-US" smtClean="0"/>
              <a:t>4-Jun-25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20CS8504 - PROJECT WORK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3B2B34-D4BB-400B-9ED9-C7A04F52518B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0" y="6334316"/>
            <a:ext cx="12192001" cy="659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5734"/>
            <a:ext cx="10058400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fld id="{16DE53D0-558D-438E-A207-A5C9205FC948}" type="datetime5">
              <a:rPr lang="en-US" smtClean="0"/>
              <a:t>4-Jun-25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rgbClr val="FFFFFF"/>
                </a:solidFill>
              </a:defRPr>
            </a:lvl1pPr>
          </a:lstStyle>
          <a:p>
            <a:r>
              <a:rPr lang="en-IN"/>
              <a:t>20CS8504 - PROJECT WORK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rgbClr val="FFFFFF"/>
                </a:solidFill>
              </a:defRPr>
            </a:lvl1pPr>
          </a:lstStyle>
          <a:p>
            <a:fld id="{963B2B34-D4BB-400B-9ED9-C7A04F52518B}" type="slidenum">
              <a:rPr lang="en-IN" smtClean="0"/>
              <a:t>‹#›</a:t>
            </a:fld>
            <a:endParaRPr lang="en-IN"/>
          </a:p>
        </p:txBody>
      </p:sp>
      <p:cxnSp>
        <p:nvCxnSpPr>
          <p:cNvPr id="10" name="Straight Connector 9"/>
          <p:cNvCxnSpPr/>
          <p:nvPr/>
        </p:nvCxnSpPr>
        <p:spPr>
          <a:xfrm>
            <a:off x="1193532" y="1737845"/>
            <a:ext cx="996696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/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175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anose="020F0502020204030204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7055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anose="020F0502020204030204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935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anose="020F0502020204030204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815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anose="020F0502020204030204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09982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anose="020F0502020204030204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299845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anose="020F0502020204030204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49987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anose="020F0502020204030204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699895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anose="020F0502020204030204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6DE53D0-558D-438E-A207-A5C9205FC948}" type="datetime5">
              <a:rPr lang="en-US" smtClean="0"/>
              <a:t>4-Jun-25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IN"/>
              <a:t>20CS8504 - PROJECT WORK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63B2B34-D4BB-400B-9ED9-C7A04F52518B}" type="slidenum">
              <a:rPr lang="en-IN" smtClean="0"/>
              <a:t>‹#›</a:t>
            </a:fld>
            <a:endParaRPr lang="en-I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jpe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jp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jp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jpe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9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jpe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jpe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1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sz="1100" dirty="0"/>
              <a:t>20CS6202 - DESIGN PROJECT 2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3B2B34-D4BB-400B-9ED9-C7A04F52518B}" type="slidenum">
              <a:rPr lang="en-IN" smtClean="0"/>
              <a:t>1</a:t>
            </a:fld>
            <a:endParaRPr lang="en-IN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82720" y="310700"/>
            <a:ext cx="4226560" cy="1479709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7416" y="602736"/>
            <a:ext cx="1218593" cy="1187673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542097" y="2272360"/>
            <a:ext cx="9563553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en-IN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STUDENT MENTAL HEALTH DETECTION USING MACHINE LEARNING</a:t>
            </a:r>
            <a:endParaRPr lang="en-US" sz="3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7360607" y="4710426"/>
            <a:ext cx="5323006" cy="8925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600" b="1" dirty="0">
                <a:latin typeface="Arial Narrow" panose="020B0606020202030204" pitchFamily="34" charset="0"/>
                <a:cs typeface="Arial" panose="020B0604020202020204" pitchFamily="34" charset="0"/>
              </a:rPr>
              <a:t>Guided By,</a:t>
            </a:r>
          </a:p>
          <a:p>
            <a:r>
              <a:rPr lang="en-US" altLang="en-IN" sz="2400" b="0" dirty="0">
                <a:solidFill>
                  <a:schemeClr val="tx1"/>
                </a:solidFill>
                <a:latin typeface="Arial Narrow" panose="020B0606020202030204" pitchFamily="34" charset="0"/>
                <a:cs typeface="Arial Narrow" panose="020B0606020202030204" pitchFamily="34" charset="0"/>
              </a:rPr>
              <a:t> Ms. P. KARTHIKA., M.E AP/CSE</a:t>
            </a:r>
            <a:r>
              <a:rPr lang="en-IN" sz="2600" dirty="0">
                <a:latin typeface="Arial Narrow" panose="020B0606020202030204" pitchFamily="34" charset="0"/>
                <a:cs typeface="Arial" panose="020B0604020202020204" pitchFamily="34" charset="0"/>
              </a:rPr>
              <a:t> 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5986" y="3855579"/>
            <a:ext cx="4822804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600" b="1" dirty="0">
                <a:latin typeface="Arial Narrow" panose="020B0606020202030204" pitchFamily="34" charset="0"/>
                <a:cs typeface="Arial" panose="020B0604020202020204" pitchFamily="34" charset="0"/>
              </a:rPr>
              <a:t>Presented By,</a:t>
            </a:r>
          </a:p>
          <a:p>
            <a:r>
              <a:rPr lang="en-US" altLang="en-IN" sz="2400" b="0" dirty="0">
                <a:solidFill>
                  <a:schemeClr val="tx1"/>
                </a:solidFill>
                <a:latin typeface="Arial Narrow" panose="020B0606020202030204" pitchFamily="34" charset="0"/>
                <a:cs typeface="Arial Narrow" panose="020B0606020202030204" pitchFamily="34" charset="0"/>
              </a:rPr>
              <a:t>811722104127</a:t>
            </a:r>
            <a:r>
              <a:rPr lang="en-IN" sz="2400" b="0" dirty="0">
                <a:solidFill>
                  <a:schemeClr val="tx1"/>
                </a:solidFill>
                <a:latin typeface="Arial Narrow" panose="020B0606020202030204" pitchFamily="34" charset="0"/>
                <a:cs typeface="Arial Narrow" panose="020B0606020202030204" pitchFamily="34" charset="0"/>
              </a:rPr>
              <a:t>–</a:t>
            </a:r>
            <a:r>
              <a:rPr lang="en-US" altLang="en-IN" sz="2400" b="0" dirty="0">
                <a:solidFill>
                  <a:schemeClr val="tx1"/>
                </a:solidFill>
                <a:latin typeface="Arial Narrow" panose="020B0606020202030204" pitchFamily="34" charset="0"/>
                <a:cs typeface="Arial Narrow" panose="020B0606020202030204" pitchFamily="34" charset="0"/>
              </a:rPr>
              <a:t>Sahaana S</a:t>
            </a:r>
            <a:endParaRPr lang="en-IN" sz="2400" b="0" dirty="0">
              <a:solidFill>
                <a:schemeClr val="tx1"/>
              </a:solidFill>
              <a:latin typeface="Arial Narrow" panose="020B0606020202030204" pitchFamily="34" charset="0"/>
              <a:cs typeface="Arial Narrow" panose="020B0606020202030204" pitchFamily="34" charset="0"/>
            </a:endParaRPr>
          </a:p>
          <a:p>
            <a:r>
              <a:rPr lang="en-US" altLang="en-IN" sz="2400" b="0" dirty="0">
                <a:solidFill>
                  <a:schemeClr val="tx1"/>
                </a:solidFill>
                <a:latin typeface="Arial Narrow" panose="020B0606020202030204" pitchFamily="34" charset="0"/>
                <a:cs typeface="Arial Narrow" panose="020B0606020202030204" pitchFamily="34" charset="0"/>
                <a:sym typeface="+mn-ea"/>
              </a:rPr>
              <a:t>811722104145</a:t>
            </a:r>
            <a:r>
              <a:rPr lang="en-IN" sz="2400" b="0" dirty="0">
                <a:solidFill>
                  <a:schemeClr val="tx1"/>
                </a:solidFill>
                <a:latin typeface="Arial Narrow" panose="020B0606020202030204" pitchFamily="34" charset="0"/>
                <a:cs typeface="Arial Narrow" panose="020B0606020202030204" pitchFamily="34" charset="0"/>
              </a:rPr>
              <a:t>–</a:t>
            </a:r>
            <a:r>
              <a:rPr lang="en-US" altLang="en-IN" sz="2400" b="0" dirty="0">
                <a:solidFill>
                  <a:schemeClr val="tx1"/>
                </a:solidFill>
                <a:latin typeface="Arial Narrow" panose="020B0606020202030204" pitchFamily="34" charset="0"/>
                <a:cs typeface="Arial Narrow" panose="020B0606020202030204" pitchFamily="34" charset="0"/>
              </a:rPr>
              <a:t>Sharvini S                            </a:t>
            </a:r>
            <a:endParaRPr lang="en-IN" sz="2400" b="0" dirty="0">
              <a:solidFill>
                <a:schemeClr val="tx1"/>
              </a:solidFill>
              <a:latin typeface="Arial Narrow" panose="020B0606020202030204" pitchFamily="34" charset="0"/>
              <a:cs typeface="Arial Narrow" panose="020B0606020202030204" pitchFamily="34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altLang="en-IN" sz="2400" b="0" dirty="0">
                <a:solidFill>
                  <a:schemeClr val="tx1"/>
                </a:solidFill>
                <a:latin typeface="Arial Narrow" panose="020B0606020202030204" pitchFamily="34" charset="0"/>
                <a:cs typeface="Arial Narrow" panose="020B0606020202030204" pitchFamily="34" charset="0"/>
                <a:sym typeface="+mn-ea"/>
              </a:rPr>
              <a:t>811722104166</a:t>
            </a:r>
            <a:r>
              <a:rPr lang="en-IN" sz="2400" b="0" dirty="0">
                <a:solidFill>
                  <a:schemeClr val="tx1"/>
                </a:solidFill>
                <a:latin typeface="Arial Narrow" panose="020B0606020202030204" pitchFamily="34" charset="0"/>
                <a:cs typeface="Arial Narrow" panose="020B0606020202030204" pitchFamily="34" charset="0"/>
              </a:rPr>
              <a:t>–</a:t>
            </a:r>
            <a:r>
              <a:rPr lang="en-US" altLang="en-IN" sz="2400" b="0" dirty="0">
                <a:solidFill>
                  <a:schemeClr val="tx1"/>
                </a:solidFill>
                <a:latin typeface="Arial Narrow" panose="020B0606020202030204" pitchFamily="34" charset="0"/>
                <a:cs typeface="Arial Narrow" panose="020B0606020202030204" pitchFamily="34" charset="0"/>
              </a:rPr>
              <a:t>Swetha M                                               </a:t>
            </a:r>
            <a:endParaRPr lang="en-IN" sz="2400" b="0" dirty="0">
              <a:solidFill>
                <a:schemeClr val="tx1"/>
              </a:solidFill>
              <a:latin typeface="Arial Narrow" panose="020B0606020202030204" pitchFamily="34" charset="0"/>
              <a:cs typeface="Arial Narrow" panose="020B0606020202030204" pitchFamily="34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altLang="en-IN" sz="2400" b="0" dirty="0">
                <a:solidFill>
                  <a:schemeClr val="tx1"/>
                </a:solidFill>
                <a:latin typeface="Arial Narrow" panose="020B0606020202030204" pitchFamily="34" charset="0"/>
                <a:cs typeface="Arial Narrow" panose="020B0606020202030204" pitchFamily="34" charset="0"/>
                <a:sym typeface="+mn-ea"/>
              </a:rPr>
              <a:t>811722104168</a:t>
            </a:r>
            <a:r>
              <a:rPr lang="en-IN" sz="2400" b="0" dirty="0">
                <a:solidFill>
                  <a:schemeClr val="tx1"/>
                </a:solidFill>
                <a:latin typeface="Arial Narrow" panose="020B0606020202030204" pitchFamily="34" charset="0"/>
                <a:cs typeface="Arial Narrow" panose="020B0606020202030204" pitchFamily="34" charset="0"/>
              </a:rPr>
              <a:t>–</a:t>
            </a:r>
            <a:r>
              <a:rPr lang="en-US" altLang="en-IN" sz="2400" b="0" dirty="0" err="1">
                <a:solidFill>
                  <a:schemeClr val="tx1"/>
                </a:solidFill>
                <a:latin typeface="Arial Narrow" panose="020B0606020202030204" pitchFamily="34" charset="0"/>
                <a:cs typeface="Arial Narrow" panose="020B0606020202030204" pitchFamily="34" charset="0"/>
              </a:rPr>
              <a:t>Thennarasi</a:t>
            </a:r>
            <a:r>
              <a:rPr lang="en-US" altLang="en-IN" sz="2400" b="0" dirty="0">
                <a:solidFill>
                  <a:schemeClr val="tx1"/>
                </a:solidFill>
                <a:latin typeface="Arial Narrow" panose="020B0606020202030204" pitchFamily="34" charset="0"/>
                <a:cs typeface="Arial Narrow" panose="020B0606020202030204" pitchFamily="34" charset="0"/>
              </a:rPr>
              <a:t> M </a:t>
            </a:r>
            <a:endParaRPr lang="en-IN" sz="2600" b="1" dirty="0">
              <a:latin typeface="Arial Narrow" panose="020B0606020202030204" pitchFamily="34" charset="0"/>
              <a:cs typeface="Arial" panose="020B0604020202020204" pitchFamily="34" charset="0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871405" y="6503847"/>
            <a:ext cx="236912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200" dirty="0">
                <a:solidFill>
                  <a:schemeClr val="bg1"/>
                </a:solidFill>
              </a:rPr>
              <a:t>DD/MM/YYYY</a:t>
            </a: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06717" y="414583"/>
            <a:ext cx="1197867" cy="1547539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anchor="ctr" anchorCtr="0">
            <a:normAutofit/>
          </a:bodyPr>
          <a:lstStyle/>
          <a:p>
            <a:pPr algn="ctr"/>
            <a:r>
              <a:rPr lang="en-IN" sz="4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ABSTRACT</a:t>
            </a: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1531" y="414584"/>
            <a:ext cx="978762" cy="953928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69583" y="414584"/>
            <a:ext cx="835001" cy="1078748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766915" y="1658093"/>
            <a:ext cx="11257937" cy="45897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 algn="just">
              <a:spcAft>
                <a:spcPts val="1000"/>
              </a:spcAft>
              <a:buFont typeface="Wingdings" panose="05000000000000000000" pitchFamily="2" charset="2"/>
              <a:buChar char="Ø"/>
            </a:pPr>
            <a:endParaRPr lang="en-IN" sz="2400" dirty="0">
              <a:latin typeface="Arial Narrow" panose="020B0606020202030204" pitchFamily="34" charset="0"/>
            </a:endParaRPr>
          </a:p>
          <a:p>
            <a:pPr marL="342900" indent="-34290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altLang="en-IN" sz="20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 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Mental health disorders are a significant global challenge, yet conventional diagnostic methods are </a:t>
            </a:r>
            <a:r>
              <a:rPr lang="en-US" altLang="en-IN" sz="20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     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often time-intensive and susceptible to bias.</a:t>
            </a: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altLang="en-IN" sz="20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This study leverages advanced machine learning techniques, including SVM, Random Forests, and  </a:t>
            </a:r>
            <a:r>
              <a:rPr lang="en-US" altLang="en-IN" sz="20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networks, to detect and predict conditions such as depression, anxiety, and stress.</a:t>
            </a: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altLang="en-IN" sz="20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Various data sources, including social media activity, physiological signals, and survey responses,  were utilized to identify key patterns indicative of mental health conditions.</a:t>
            </a: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altLang="en-IN" sz="20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 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The results indicate strong predictive performance, with certain models achieving over 85% precision in classifying specific mental health disorders.</a:t>
            </a: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 algn="just">
              <a:spcAft>
                <a:spcPts val="1000"/>
              </a:spcAft>
              <a:buFont typeface="Wingdings" panose="05000000000000000000" pitchFamily="2" charset="2"/>
              <a:buChar char="Ø"/>
            </a:pP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3686185" y="6459785"/>
            <a:ext cx="4822804" cy="365125"/>
          </a:xfrm>
        </p:spPr>
        <p:txBody>
          <a:bodyPr/>
          <a:lstStyle/>
          <a:p>
            <a:r>
              <a:rPr lang="en-IN" sz="1100" dirty="0"/>
              <a:t>20CS6202 - DESIGN PROJECT 2</a:t>
            </a:r>
          </a:p>
        </p:txBody>
      </p:sp>
      <p:sp>
        <p:nvSpPr>
          <p:cNvPr id="13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9900458" y="6459785"/>
            <a:ext cx="1312025" cy="365125"/>
          </a:xfrm>
        </p:spPr>
        <p:txBody>
          <a:bodyPr/>
          <a:lstStyle/>
          <a:p>
            <a:fld id="{963B2B34-D4BB-400B-9ED9-C7A04F52518B}" type="slidenum">
              <a:rPr lang="en-IN" smtClean="0"/>
              <a:t>2</a:t>
            </a:fld>
            <a:endParaRPr lang="en-IN" dirty="0"/>
          </a:p>
        </p:txBody>
      </p:sp>
      <p:sp>
        <p:nvSpPr>
          <p:cNvPr id="14" name="TextBox 13"/>
          <p:cNvSpPr txBox="1"/>
          <p:nvPr/>
        </p:nvSpPr>
        <p:spPr>
          <a:xfrm>
            <a:off x="871405" y="6503847"/>
            <a:ext cx="236912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200" dirty="0">
                <a:solidFill>
                  <a:schemeClr val="bg1"/>
                </a:solidFill>
              </a:rPr>
              <a:t>DD/MM/YYYY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anchor="ctr" anchorCtr="0">
            <a:normAutofit/>
          </a:bodyPr>
          <a:lstStyle/>
          <a:p>
            <a:pPr algn="ctr"/>
            <a:r>
              <a:rPr lang="en-IN" sz="4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OBJECTIVE</a:t>
            </a: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7899" y="443858"/>
            <a:ext cx="978762" cy="953928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08804" y="523181"/>
            <a:ext cx="835001" cy="1078748"/>
          </a:xfrm>
          <a:prstGeom prst="rect">
            <a:avLst/>
          </a:prstGeom>
        </p:spPr>
      </p:pic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3686185" y="6479449"/>
            <a:ext cx="4822804" cy="365125"/>
          </a:xfrm>
        </p:spPr>
        <p:txBody>
          <a:bodyPr/>
          <a:lstStyle/>
          <a:p>
            <a:r>
              <a:rPr lang="en-IN" sz="1100" dirty="0"/>
              <a:t>20CS6202 - DESIGN PROJECT 2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9900458" y="6459785"/>
            <a:ext cx="1312025" cy="365125"/>
          </a:xfrm>
        </p:spPr>
        <p:txBody>
          <a:bodyPr/>
          <a:lstStyle/>
          <a:p>
            <a:fld id="{963B2B34-D4BB-400B-9ED9-C7A04F52518B}" type="slidenum">
              <a:rPr lang="en-IN" smtClean="0"/>
              <a:t>3</a:t>
            </a:fld>
            <a:endParaRPr lang="en-IN" dirty="0"/>
          </a:p>
        </p:txBody>
      </p:sp>
      <p:sp>
        <p:nvSpPr>
          <p:cNvPr id="5" name="TextBox 4"/>
          <p:cNvSpPr txBox="1"/>
          <p:nvPr/>
        </p:nvSpPr>
        <p:spPr>
          <a:xfrm>
            <a:off x="871405" y="6503847"/>
            <a:ext cx="236912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200" dirty="0">
                <a:solidFill>
                  <a:schemeClr val="bg1"/>
                </a:solidFill>
              </a:rPr>
              <a:t>DD/MM/YYYY</a:t>
            </a:r>
          </a:p>
        </p:txBody>
      </p:sp>
      <p:sp>
        <p:nvSpPr>
          <p:cNvPr id="6" name="Text Box 5"/>
          <p:cNvSpPr txBox="1"/>
          <p:nvPr/>
        </p:nvSpPr>
        <p:spPr>
          <a:xfrm>
            <a:off x="914400" y="2147570"/>
            <a:ext cx="10424795" cy="36309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dirty="0">
                <a:latin typeface="Arial Narrow" panose="020B0606020202030204" pitchFamily="34" charset="0"/>
                <a:cs typeface="Arial Narrow" panose="020B0606020202030204" pitchFamily="34" charset="0"/>
                <a:sym typeface="+mn-ea"/>
              </a:rPr>
              <a:t>T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o explore and apply advanced machine learning algorithms for the detection and prediction of mental health conditions, enhancing the efficiency and objectivity of mental health assessments.</a:t>
            </a: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To integrate and analyze diverse data sources—including social media activity, physiological signals, and validated psychological surveys—to identify patterns associated with disorders such as depression, anxiety, and stress.</a:t>
            </a: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To evaluate and compare the performance of various machine learning models in terms of accuracy, precision, and reliability for effective classification of mental health disorders</a:t>
            </a: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Wingdings" panose="05000000000000000000" pitchFamily="2" charset="2"/>
              <a:buChar char="Ø"/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anchor="ctr" anchorCtr="0">
            <a:normAutofit/>
          </a:bodyPr>
          <a:lstStyle/>
          <a:p>
            <a:pPr algn="ctr"/>
            <a:r>
              <a:rPr lang="en-IN" sz="4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LITERATURE SURVEY</a:t>
            </a: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1148" y="542521"/>
            <a:ext cx="978762" cy="953928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56470" y="542521"/>
            <a:ext cx="835001" cy="1078748"/>
          </a:xfrm>
          <a:prstGeom prst="rect">
            <a:avLst/>
          </a:prstGeom>
        </p:spPr>
      </p:pic>
      <p:graphicFrame>
        <p:nvGraphicFramePr>
          <p:cNvPr id="3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71044092"/>
              </p:ext>
            </p:extLst>
          </p:nvPr>
        </p:nvGraphicFramePr>
        <p:xfrm>
          <a:off x="871405" y="2020173"/>
          <a:ext cx="10683286" cy="3689668"/>
        </p:xfrm>
        <a:graphic>
          <a:graphicData uri="http://schemas.openxmlformats.org/drawingml/2006/table">
            <a:tbl>
              <a:tblPr>
                <a:tableStyleId>{69CF1AB2-1976-4502-BF36-3FF5EA218861}</a:tableStyleId>
              </a:tblPr>
              <a:tblGrid>
                <a:gridCol w="121988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81348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3993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10997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53815">
                <a:tc>
                  <a:txBody>
                    <a:bodyPr/>
                    <a:lstStyle/>
                    <a:p>
                      <a:pPr algn="ctr"/>
                      <a:r>
                        <a:rPr lang="en-IN" sz="2000" b="1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S.No</a:t>
                      </a:r>
                      <a:r>
                        <a:rPr lang="en-IN" sz="2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.</a:t>
                      </a:r>
                    </a:p>
                  </a:txBody>
                  <a:tcPr marL="29579" marR="29579" marT="14789" marB="14789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Paper Title</a:t>
                      </a:r>
                    </a:p>
                  </a:txBody>
                  <a:tcPr marL="29579" marR="29579" marT="14789" marB="14789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Year</a:t>
                      </a:r>
                    </a:p>
                  </a:txBody>
                  <a:tcPr marL="29579" marR="29579" marT="14789" marB="14789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Remark</a:t>
                      </a:r>
                    </a:p>
                  </a:txBody>
                  <a:tcPr marL="29579" marR="29579" marT="14789" marB="14789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954402">
                <a:tc>
                  <a:txBody>
                    <a:bodyPr/>
                    <a:lstStyle/>
                    <a:p>
                      <a:pPr algn="ctr"/>
                      <a:r>
                        <a:rPr lang="en-IN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 marL="29579" marR="29579" marT="14789" marB="14789" anchor="ctr"/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US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Student Mental Health Detection Using ML</a:t>
                      </a:r>
                    </a:p>
                  </a:txBody>
                  <a:tcPr marL="29579" marR="29579" marT="14789" marB="14789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2025</a:t>
                      </a:r>
                      <a:endParaRPr lang="en-IN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9579" marR="29579" marT="14789" marB="14789" anchor="ctr"/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Predicts mental health status using ML algorithms</a:t>
                      </a:r>
                    </a:p>
                    <a:p>
                      <a:pPr algn="just"/>
                      <a:endParaRPr lang="en-US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9579" marR="29579" marT="14789" marB="14789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124218">
                <a:tc>
                  <a:txBody>
                    <a:bodyPr/>
                    <a:lstStyle/>
                    <a:p>
                      <a:pPr algn="ctr"/>
                      <a:r>
                        <a:rPr lang="en-IN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</a:p>
                  </a:txBody>
                  <a:tcPr marL="29579" marR="29579" marT="14789" marB="14789" anchor="ctr"/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US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Early Detection of Student Stress via ML</a:t>
                      </a:r>
                    </a:p>
                  </a:txBody>
                  <a:tcPr marL="29579" marR="29579" marT="14789" marB="14789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2024</a:t>
                      </a:r>
                      <a:endParaRPr lang="en-IN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9579" marR="29579" marT="14789" marB="14789" anchor="ctr"/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US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Detects early signs of stress based on academic and behavioral data</a:t>
                      </a:r>
                    </a:p>
                  </a:txBody>
                  <a:tcPr marL="29579" marR="29579" marT="14789" marB="14789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257233">
                <a:tc>
                  <a:txBody>
                    <a:bodyPr/>
                    <a:lstStyle/>
                    <a:p>
                      <a:pPr algn="ctr"/>
                      <a:r>
                        <a:rPr lang="en-IN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</a:p>
                  </a:txBody>
                  <a:tcPr marL="29579" marR="29579" marT="14789" marB="14789" anchor="ctr"/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US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Depression Risk Assessment in Students (ML Approach)</a:t>
                      </a:r>
                    </a:p>
                  </a:txBody>
                  <a:tcPr marL="29579" marR="29579" marT="14789" marB="14789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2023</a:t>
                      </a:r>
                      <a:endParaRPr lang="en-IN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9579" marR="29579" marT="14789" marB="14789" anchor="ctr"/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US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Focused on identifying depression symptoms using supervised learning</a:t>
                      </a:r>
                    </a:p>
                  </a:txBody>
                  <a:tcPr marL="29579" marR="29579" marT="14789" marB="14789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4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3686185" y="6459785"/>
            <a:ext cx="4822804" cy="365125"/>
          </a:xfrm>
        </p:spPr>
        <p:txBody>
          <a:bodyPr/>
          <a:lstStyle/>
          <a:p>
            <a:r>
              <a:rPr lang="en-IN" sz="1100" dirty="0"/>
              <a:t>20CS6202 - DESIGN PROJECT 2</a:t>
            </a:r>
          </a:p>
        </p:txBody>
      </p:sp>
      <p:sp>
        <p:nvSpPr>
          <p:cNvPr id="5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9900458" y="6459785"/>
            <a:ext cx="1312025" cy="365125"/>
          </a:xfrm>
        </p:spPr>
        <p:txBody>
          <a:bodyPr/>
          <a:lstStyle/>
          <a:p>
            <a:fld id="{963B2B34-D4BB-400B-9ED9-C7A04F52518B}" type="slidenum">
              <a:rPr lang="en-IN" smtClean="0"/>
              <a:t>4</a:t>
            </a:fld>
            <a:endParaRPr lang="en-IN" dirty="0"/>
          </a:p>
        </p:txBody>
      </p:sp>
      <p:sp>
        <p:nvSpPr>
          <p:cNvPr id="9" name="TextBox 8"/>
          <p:cNvSpPr txBox="1"/>
          <p:nvPr/>
        </p:nvSpPr>
        <p:spPr>
          <a:xfrm>
            <a:off x="871405" y="6503847"/>
            <a:ext cx="236912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200" dirty="0">
                <a:solidFill>
                  <a:schemeClr val="bg1"/>
                </a:solidFill>
              </a:rPr>
              <a:t>DD/MM/YYYY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Table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90986957"/>
              </p:ext>
            </p:extLst>
          </p:nvPr>
        </p:nvGraphicFramePr>
        <p:xfrm>
          <a:off x="871405" y="2119778"/>
          <a:ext cx="10858274" cy="3758124"/>
        </p:xfrm>
        <a:graphic>
          <a:graphicData uri="http://schemas.openxmlformats.org/drawingml/2006/table">
            <a:tbl>
              <a:tblPr>
                <a:tableStyleId>{69CF1AB2-1976-4502-BF36-3FF5EA218861}</a:tableStyleId>
              </a:tblPr>
              <a:tblGrid>
                <a:gridCol w="86517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56395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0068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3284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29216">
                <a:tc>
                  <a:txBody>
                    <a:bodyPr/>
                    <a:lstStyle/>
                    <a:p>
                      <a:pPr algn="ctr"/>
                      <a:r>
                        <a:rPr lang="en-IN" sz="2000" b="1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S.No</a:t>
                      </a:r>
                      <a:r>
                        <a:rPr lang="en-IN" sz="2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.</a:t>
                      </a:r>
                    </a:p>
                  </a:txBody>
                  <a:tcPr marL="29579" marR="29579" marT="14789" marB="14789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Paper Title</a:t>
                      </a:r>
                    </a:p>
                  </a:txBody>
                  <a:tcPr marL="29579" marR="29579" marT="14789" marB="14789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Year</a:t>
                      </a:r>
                    </a:p>
                  </a:txBody>
                  <a:tcPr marL="29579" marR="29579" marT="14789" marB="14789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Remark</a:t>
                      </a:r>
                    </a:p>
                  </a:txBody>
                  <a:tcPr marL="29579" marR="29579" marT="14789" marB="14789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100515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IN" sz="2000" b="0" kern="120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4</a:t>
                      </a:r>
                    </a:p>
                  </a:txBody>
                  <a:tcPr marL="29579" marR="29579" marT="14789" marB="14789" anchor="ctr"/>
                </a:tc>
                <a:tc>
                  <a:txBody>
                    <a:bodyPr/>
                    <a:lstStyle/>
                    <a:p>
                      <a:pPr marL="0" algn="just" defTabSz="914400" rtl="0" eaLnBrk="1" latinLnBrk="0" hangingPunct="1"/>
                      <a:r>
                        <a:rPr lang="en-US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AI-based Student Mental Wellness Classifier</a:t>
                      </a:r>
                      <a:endParaRPr lang="en-IN" sz="2000" b="0" kern="1200" dirty="0">
                        <a:solidFill>
                          <a:schemeClr val="dk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29579" marR="29579" marT="14789" marB="14789"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2025</a:t>
                      </a:r>
                      <a:endParaRPr lang="en-IN" sz="2000" b="0" kern="1200" dirty="0">
                        <a:solidFill>
                          <a:schemeClr val="dk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29579" marR="29579" marT="14789" marB="14789" anchor="ctr"/>
                </a:tc>
                <a:tc>
                  <a:txBody>
                    <a:bodyPr/>
                    <a:lstStyle/>
                    <a:p>
                      <a:pPr marL="0" algn="just" defTabSz="914400" rtl="0" eaLnBrk="1" latinLnBrk="0" hangingPunct="1"/>
                      <a:r>
                        <a:rPr lang="en-US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Classifies mental health states (normal, anxious, depressed)</a:t>
                      </a:r>
                      <a:endParaRPr lang="en-US" sz="2000" b="0" kern="1200" dirty="0">
                        <a:solidFill>
                          <a:schemeClr val="dk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29579" marR="29579" marT="14789" marB="14789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100515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IN" sz="2000" b="0" kern="120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5</a:t>
                      </a:r>
                    </a:p>
                  </a:txBody>
                  <a:tcPr marL="29579" marR="29579" marT="14789" marB="14789" anchor="ctr"/>
                </a:tc>
                <a:tc>
                  <a:txBody>
                    <a:bodyPr/>
                    <a:lstStyle/>
                    <a:p>
                      <a:pPr marL="0" algn="just" defTabSz="914400" rtl="0" eaLnBrk="1" latinLnBrk="0" hangingPunct="1"/>
                      <a:r>
                        <a:rPr lang="en-US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Predictive Analysis of Student Anxiety Levels</a:t>
                      </a:r>
                      <a:endParaRPr lang="en-IN" sz="2000" b="0" kern="1200" dirty="0">
                        <a:solidFill>
                          <a:schemeClr val="dk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29579" marR="29579" marT="14789" marB="14789"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2022</a:t>
                      </a:r>
                      <a:endParaRPr lang="en-IN" sz="2000" b="0" kern="1200" dirty="0">
                        <a:solidFill>
                          <a:schemeClr val="dk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29579" marR="29579" marT="14789" marB="14789" anchor="ctr"/>
                </a:tc>
                <a:tc>
                  <a:txBody>
                    <a:bodyPr/>
                    <a:lstStyle/>
                    <a:p>
                      <a:pPr marL="0" algn="just" defTabSz="914400" rtl="0" eaLnBrk="1" latinLnBrk="0" hangingPunct="1"/>
                      <a:r>
                        <a:rPr lang="en-US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Uses SVM and decision trees on student surveys</a:t>
                      </a:r>
                      <a:endParaRPr lang="en-US" sz="2000" b="0" kern="1200" dirty="0">
                        <a:solidFill>
                          <a:schemeClr val="dk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29579" marR="29579" marT="14789" marB="14789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127878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IN" sz="2000" b="0" kern="120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6</a:t>
                      </a:r>
                    </a:p>
                  </a:txBody>
                  <a:tcPr marL="29579" marR="29579" marT="14789" marB="14789" anchor="ctr"/>
                </a:tc>
                <a:tc>
                  <a:txBody>
                    <a:bodyPr/>
                    <a:lstStyle/>
                    <a:p>
                      <a:pPr marL="0" algn="just" defTabSz="914400" rtl="0" eaLnBrk="1" latinLnBrk="0" hangingPunct="1"/>
                      <a:r>
                        <a:rPr lang="en-US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Mental Health Prediction Using Academic Performance</a:t>
                      </a:r>
                      <a:endParaRPr lang="en-US" sz="2000" b="0" kern="1200" dirty="0">
                        <a:solidFill>
                          <a:schemeClr val="dk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29579" marR="29579" marT="14789" marB="14789"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2023</a:t>
                      </a:r>
                      <a:endParaRPr lang="en-IN" sz="2000" b="0" kern="1200" dirty="0">
                        <a:solidFill>
                          <a:schemeClr val="dk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29579" marR="29579" marT="14789" marB="14789" anchor="ctr"/>
                </a:tc>
                <a:tc>
                  <a:txBody>
                    <a:bodyPr/>
                    <a:lstStyle/>
                    <a:p>
                      <a:pPr marL="0" algn="just" defTabSz="914400" rtl="0" eaLnBrk="1" latinLnBrk="0" hangingPunct="1"/>
                      <a:r>
                        <a:rPr lang="en-US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Correlates academic metrics with mental health outcomes</a:t>
                      </a:r>
                      <a:endParaRPr lang="en-US" sz="2000" b="0" kern="1200" dirty="0">
                        <a:solidFill>
                          <a:schemeClr val="dk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29579" marR="29579" marT="14789" marB="14789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1" name="Title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 anchor="ctr" anchorCtr="0">
            <a:normAutofit/>
          </a:bodyPr>
          <a:lstStyle/>
          <a:p>
            <a:pPr algn="ctr"/>
            <a:r>
              <a:rPr lang="en-IN" sz="4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LITERATURE SURVEY</a:t>
            </a:r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6939" y="460652"/>
            <a:ext cx="978762" cy="953928"/>
          </a:xfrm>
          <a:prstGeom prst="rect">
            <a:avLst/>
          </a:prstGeom>
        </p:spPr>
      </p:pic>
      <p:pic>
        <p:nvPicPr>
          <p:cNvPr id="13" name="Picture 12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77219" y="459147"/>
            <a:ext cx="835001" cy="1078748"/>
          </a:xfrm>
          <a:prstGeom prst="rect">
            <a:avLst/>
          </a:prstGeom>
        </p:spPr>
      </p:pic>
      <p:sp>
        <p:nvSpPr>
          <p:cNvPr id="2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3686185" y="6459785"/>
            <a:ext cx="4822804" cy="365125"/>
          </a:xfrm>
        </p:spPr>
        <p:txBody>
          <a:bodyPr/>
          <a:lstStyle/>
          <a:p>
            <a:r>
              <a:rPr lang="en-IN" sz="1100" dirty="0"/>
              <a:t>20CS6202 - DESIGN PROJECT 2</a:t>
            </a:r>
          </a:p>
        </p:txBody>
      </p:sp>
      <p:sp>
        <p:nvSpPr>
          <p:cNvPr id="3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9900458" y="6459785"/>
            <a:ext cx="1312025" cy="365125"/>
          </a:xfrm>
        </p:spPr>
        <p:txBody>
          <a:bodyPr/>
          <a:lstStyle/>
          <a:p>
            <a:fld id="{963B2B34-D4BB-400B-9ED9-C7A04F52518B}" type="slidenum">
              <a:rPr lang="en-IN" smtClean="0"/>
              <a:t>5</a:t>
            </a:fld>
            <a:endParaRPr lang="en-IN" dirty="0"/>
          </a:p>
        </p:txBody>
      </p:sp>
      <p:sp>
        <p:nvSpPr>
          <p:cNvPr id="4" name="TextBox 3"/>
          <p:cNvSpPr txBox="1"/>
          <p:nvPr/>
        </p:nvSpPr>
        <p:spPr>
          <a:xfrm>
            <a:off x="871405" y="6503847"/>
            <a:ext cx="236912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200" dirty="0">
                <a:solidFill>
                  <a:schemeClr val="bg1"/>
                </a:solidFill>
              </a:rPr>
              <a:t>DD/MM/YYYY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Table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46282036"/>
              </p:ext>
            </p:extLst>
          </p:nvPr>
        </p:nvGraphicFramePr>
        <p:xfrm>
          <a:off x="883920" y="2155740"/>
          <a:ext cx="10917412" cy="3572868"/>
        </p:xfrm>
        <a:graphic>
          <a:graphicData uri="http://schemas.openxmlformats.org/drawingml/2006/table">
            <a:tbl>
              <a:tblPr>
                <a:tableStyleId>{69CF1AB2-1976-4502-BF36-3FF5EA218861}</a:tableStyleId>
              </a:tblPr>
              <a:tblGrid>
                <a:gridCol w="80304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01327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3170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66938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81177">
                <a:tc>
                  <a:txBody>
                    <a:bodyPr/>
                    <a:lstStyle/>
                    <a:p>
                      <a:pPr algn="ctr"/>
                      <a:r>
                        <a:rPr lang="en-IN" sz="2000" b="1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S.No</a:t>
                      </a:r>
                      <a:r>
                        <a:rPr lang="en-IN" sz="2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.</a:t>
                      </a:r>
                    </a:p>
                  </a:txBody>
                  <a:tcPr marL="29579" marR="29579" marT="14789" marB="14789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Paper Title</a:t>
                      </a:r>
                    </a:p>
                  </a:txBody>
                  <a:tcPr marL="29579" marR="29579" marT="14789" marB="14789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Year</a:t>
                      </a:r>
                    </a:p>
                  </a:txBody>
                  <a:tcPr marL="29579" marR="29579" marT="14789" marB="14789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Remark</a:t>
                      </a:r>
                    </a:p>
                  </a:txBody>
                  <a:tcPr marL="29579" marR="29579" marT="14789" marB="14789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059563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IN" sz="2000" kern="120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7</a:t>
                      </a:r>
                    </a:p>
                  </a:txBody>
                  <a:tcPr marL="29579" marR="29579" marT="14789" marB="14789" anchor="ctr"/>
                </a:tc>
                <a:tc>
                  <a:txBody>
                    <a:bodyPr/>
                    <a:lstStyle/>
                    <a:p>
                      <a:pPr marL="0" algn="just" defTabSz="914400" rtl="0" eaLnBrk="1" latinLnBrk="0" hangingPunct="1"/>
                      <a:r>
                        <a:rPr lang="en-US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ML-Based Detection of Burnout in University Students</a:t>
                      </a:r>
                      <a:endParaRPr lang="en-IN" sz="2000" kern="1200" dirty="0">
                        <a:solidFill>
                          <a:schemeClr val="dk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29579" marR="29579" marT="14789" marB="14789"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2024</a:t>
                      </a:r>
                      <a:endParaRPr lang="en-IN" sz="2000" kern="1200" dirty="0">
                        <a:solidFill>
                          <a:schemeClr val="dk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29579" marR="29579" marT="14789" marB="14789" anchor="ctr"/>
                </a:tc>
                <a:tc>
                  <a:txBody>
                    <a:bodyPr/>
                    <a:lstStyle/>
                    <a:p>
                      <a:r>
                        <a:rPr lang="en-US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Identifies burnout risk using behavioral and survey data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966064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IN" sz="2000" kern="120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8</a:t>
                      </a:r>
                    </a:p>
                  </a:txBody>
                  <a:tcPr marL="29579" marR="29579" marT="14789" marB="14789" anchor="ctr"/>
                </a:tc>
                <a:tc>
                  <a:txBody>
                    <a:bodyPr/>
                    <a:lstStyle/>
                    <a:p>
                      <a:pPr marL="0" algn="just" defTabSz="914400" rtl="0" eaLnBrk="1" latinLnBrk="0" hangingPunct="1"/>
                      <a:r>
                        <a:rPr lang="en-US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Sentiment Analysis for Student Mental Health Monitoring</a:t>
                      </a:r>
                      <a:endParaRPr lang="en-US" sz="2000" kern="1200" dirty="0">
                        <a:solidFill>
                          <a:schemeClr val="dk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29579" marR="29579" marT="14789" marB="14789"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2025</a:t>
                      </a:r>
                      <a:endParaRPr lang="en-IN" sz="2000" kern="1200" dirty="0">
                        <a:solidFill>
                          <a:schemeClr val="dk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29579" marR="29579" marT="14789" marB="14789" anchor="ctr"/>
                </a:tc>
                <a:tc>
                  <a:txBody>
                    <a:bodyPr/>
                    <a:lstStyle/>
                    <a:p>
                      <a:pPr marL="0" algn="just" defTabSz="914400" rtl="0" eaLnBrk="1" latinLnBrk="0" hangingPunct="1"/>
                      <a:r>
                        <a:rPr lang="en-US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Analyzes text inputs to detect emotional and mental state</a:t>
                      </a:r>
                      <a:endParaRPr lang="en-US" sz="2000" kern="1200" dirty="0">
                        <a:solidFill>
                          <a:schemeClr val="dk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29579" marR="29579" marT="14789" marB="14789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966064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IN" sz="2000" kern="120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9</a:t>
                      </a:r>
                    </a:p>
                  </a:txBody>
                  <a:tcPr marL="29579" marR="29579" marT="14789" marB="14789" anchor="ctr"/>
                </a:tc>
                <a:tc>
                  <a:txBody>
                    <a:bodyPr/>
                    <a:lstStyle/>
                    <a:p>
                      <a:pPr marL="0" algn="just" defTabSz="914400" rtl="0" eaLnBrk="1" latinLnBrk="0" hangingPunct="1"/>
                      <a:r>
                        <a:rPr lang="en-US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Student Mood Detection Using ML and IoT Data</a:t>
                      </a:r>
                      <a:endParaRPr lang="en-US" sz="2000" kern="1200" dirty="0">
                        <a:solidFill>
                          <a:schemeClr val="dk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29579" marR="29579" marT="14789" marB="14789"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2023</a:t>
                      </a:r>
                      <a:endParaRPr lang="en-IN" sz="2000" kern="1200" dirty="0">
                        <a:solidFill>
                          <a:schemeClr val="dk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29579" marR="29579" marT="14789" marB="14789" anchor="ctr"/>
                </a:tc>
                <a:tc>
                  <a:txBody>
                    <a:bodyPr/>
                    <a:lstStyle/>
                    <a:p>
                      <a:pPr marL="0" algn="just" defTabSz="914400" rtl="0" eaLnBrk="1" latinLnBrk="0" hangingPunct="1"/>
                      <a:r>
                        <a:rPr lang="en-US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Combines wearable sensor data and ML to detect mood fluctuations</a:t>
                      </a:r>
                      <a:endParaRPr lang="en-US" sz="2000" kern="1200" dirty="0">
                        <a:solidFill>
                          <a:schemeClr val="dk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29579" marR="29579" marT="14789" marB="14789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pic>
        <p:nvPicPr>
          <p:cNvPr id="8" name="Picture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3976" y="514697"/>
            <a:ext cx="978762" cy="953928"/>
          </a:xfrm>
          <a:prstGeom prst="rect">
            <a:avLst/>
          </a:prstGeom>
        </p:spPr>
      </p:pic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 anchor="ctr" anchorCtr="0">
            <a:normAutofit/>
          </a:bodyPr>
          <a:lstStyle/>
          <a:p>
            <a:pPr algn="ctr"/>
            <a:r>
              <a:rPr lang="en-IN" sz="4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LITERATURE SURVEY</a:t>
            </a:r>
          </a:p>
        </p:txBody>
      </p:sp>
      <p:pic>
        <p:nvPicPr>
          <p:cNvPr id="10" name="Picture 9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77219" y="472607"/>
            <a:ext cx="835001" cy="1078748"/>
          </a:xfrm>
          <a:prstGeom prst="rect">
            <a:avLst/>
          </a:prstGeom>
        </p:spPr>
      </p:pic>
      <p:sp>
        <p:nvSpPr>
          <p:cNvPr id="2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3686185" y="6459785"/>
            <a:ext cx="4822804" cy="365125"/>
          </a:xfrm>
        </p:spPr>
        <p:txBody>
          <a:bodyPr/>
          <a:lstStyle/>
          <a:p>
            <a:r>
              <a:rPr lang="en-IN" sz="1100" dirty="0"/>
              <a:t>20CS6202 - DESIGN PROJECT 2</a:t>
            </a:r>
          </a:p>
        </p:txBody>
      </p:sp>
      <p:sp>
        <p:nvSpPr>
          <p:cNvPr id="3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9900458" y="6459785"/>
            <a:ext cx="1312025" cy="365125"/>
          </a:xfrm>
        </p:spPr>
        <p:txBody>
          <a:bodyPr/>
          <a:lstStyle/>
          <a:p>
            <a:fld id="{963B2B34-D4BB-400B-9ED9-C7A04F52518B}" type="slidenum">
              <a:rPr lang="en-IN" smtClean="0"/>
              <a:t>6</a:t>
            </a:fld>
            <a:endParaRPr lang="en-IN" dirty="0"/>
          </a:p>
        </p:txBody>
      </p:sp>
      <p:sp>
        <p:nvSpPr>
          <p:cNvPr id="4" name="TextBox 3"/>
          <p:cNvSpPr txBox="1"/>
          <p:nvPr/>
        </p:nvSpPr>
        <p:spPr>
          <a:xfrm>
            <a:off x="871405" y="6503847"/>
            <a:ext cx="236912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200" dirty="0">
                <a:solidFill>
                  <a:schemeClr val="bg1"/>
                </a:solidFill>
              </a:rPr>
              <a:t>DD/MM/YYYY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anchor="ctr" anchorCtr="0">
            <a:normAutofit/>
          </a:bodyPr>
          <a:lstStyle/>
          <a:p>
            <a:pPr algn="ctr"/>
            <a:r>
              <a:rPr lang="en-IN" sz="4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EXISTING SYSTEM</a:t>
            </a: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6939" y="495681"/>
            <a:ext cx="978762" cy="953928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77219" y="433271"/>
            <a:ext cx="835001" cy="1078748"/>
          </a:xfrm>
          <a:prstGeom prst="rect">
            <a:avLst/>
          </a:prstGeom>
        </p:spPr>
      </p:pic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3686185" y="6459785"/>
            <a:ext cx="4822804" cy="365125"/>
          </a:xfrm>
        </p:spPr>
        <p:txBody>
          <a:bodyPr/>
          <a:lstStyle/>
          <a:p>
            <a:r>
              <a:rPr lang="en-IN" sz="1100" dirty="0"/>
              <a:t>20CS6202 - DESIGN PROJECT 2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9900458" y="6459785"/>
            <a:ext cx="1312025" cy="365125"/>
          </a:xfrm>
        </p:spPr>
        <p:txBody>
          <a:bodyPr/>
          <a:lstStyle/>
          <a:p>
            <a:fld id="{963B2B34-D4BB-400B-9ED9-C7A04F52518B}" type="slidenum">
              <a:rPr lang="en-IN" smtClean="0"/>
              <a:t>7</a:t>
            </a:fld>
            <a:endParaRPr lang="en-IN" dirty="0"/>
          </a:p>
        </p:txBody>
      </p:sp>
      <p:sp>
        <p:nvSpPr>
          <p:cNvPr id="5" name="TextBox 4"/>
          <p:cNvSpPr txBox="1"/>
          <p:nvPr/>
        </p:nvSpPr>
        <p:spPr>
          <a:xfrm>
            <a:off x="871405" y="6503847"/>
            <a:ext cx="236912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200" dirty="0">
                <a:solidFill>
                  <a:schemeClr val="bg1"/>
                </a:solidFill>
              </a:rPr>
              <a:t>DD/MM/YYYY</a:t>
            </a:r>
          </a:p>
        </p:txBody>
      </p:sp>
      <p:sp>
        <p:nvSpPr>
          <p:cNvPr id="6" name="Rectangle 1">
            <a:extLst>
              <a:ext uri="{FF2B5EF4-FFF2-40B4-BE49-F238E27FC236}">
                <a16:creationId xmlns:a16="http://schemas.microsoft.com/office/drawing/2014/main" id="{D632CFCC-B196-312F-E5D5-DF8F7D0D6461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655094" y="1910975"/>
            <a:ext cx="11802377" cy="41498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R="0" lvl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Objective Definition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– Define project goals, problem scope, and expected outcomes to guide development.</a:t>
            </a:r>
          </a:p>
          <a:p>
            <a:pPr marR="0" lvl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Experimental Planning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– Design a structured methodology with planned resources, timelines, and variables.</a:t>
            </a:r>
          </a:p>
          <a:p>
            <a:pPr marR="0" lvl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Ethical Approval &amp; Consent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– Obtain ethical clearance and informed consent for human-involved studies.</a:t>
            </a:r>
          </a:p>
          <a:p>
            <a:pPr marR="0" lvl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Data Acquisition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– Collect accurate and relevant raw data through sensors, surveys, or tools.</a:t>
            </a:r>
          </a:p>
          <a:p>
            <a:pPr marR="0" lvl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Data Preprocessing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– Clean, normalize, and transform data to prepare it for modeling.</a:t>
            </a:r>
          </a:p>
          <a:p>
            <a:pPr marR="0" lvl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Model Development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– Build, train, and test models using suitable algorithms on processed data.</a:t>
            </a:r>
          </a:p>
          <a:p>
            <a:pPr marR="0" lvl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Validation &amp; Review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– Assess model performance using metrics and refine based on results.</a:t>
            </a:r>
          </a:p>
          <a:p>
            <a:pPr marR="0" lvl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Deployment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– Implement the system in a real-world setting and provide ongoing support.</a:t>
            </a:r>
          </a:p>
          <a:p>
            <a:pPr marR="0" lvl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51840" y="289977"/>
            <a:ext cx="10058400" cy="1450757"/>
          </a:xfrm>
        </p:spPr>
        <p:txBody>
          <a:bodyPr anchor="ctr" anchorCtr="0">
            <a:normAutofit/>
          </a:bodyPr>
          <a:lstStyle/>
          <a:p>
            <a:pPr algn="ctr"/>
            <a:r>
              <a:rPr lang="en-IN" sz="4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PROPOSED SYSTEM </a:t>
            </a: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6939" y="530910"/>
            <a:ext cx="978762" cy="953928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94982" y="530910"/>
            <a:ext cx="835001" cy="1078748"/>
          </a:xfrm>
          <a:prstGeom prst="rect">
            <a:avLst/>
          </a:prstGeom>
        </p:spPr>
      </p:pic>
      <p:sp>
        <p:nvSpPr>
          <p:cNvPr id="9" name="Rectangle 1"/>
          <p:cNvSpPr>
            <a:spLocks noGrp="1" noChangeArrowheads="1"/>
          </p:cNvSpPr>
          <p:nvPr>
            <p:ph idx="1"/>
          </p:nvPr>
        </p:nvSpPr>
        <p:spPr bwMode="auto">
          <a:xfrm>
            <a:off x="1005840" y="2190768"/>
            <a:ext cx="11186160" cy="2960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spAutoFit/>
          </a:bodyPr>
          <a:lstStyle/>
          <a:p>
            <a:pPr marR="0" lvl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ts val="300"/>
              </a:spcAft>
              <a:buClrTx/>
              <a:buSzTx/>
              <a:buFont typeface="Wingdings" panose="05000000000000000000" pitchFamily="2" charset="2"/>
              <a:buChar char="Ø"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Data Exploration Analyzing data patterns, distributions, and relationships to gain insights.</a:t>
            </a:r>
          </a:p>
          <a:p>
            <a:pPr marR="0" lvl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ts val="300"/>
              </a:spcAft>
              <a:buClrTx/>
              <a:buSzTx/>
              <a:buFont typeface="Wingdings" panose="05000000000000000000" pitchFamily="2" charset="2"/>
              <a:buChar char="Ø"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Data Cleaning Removing errors, handling missing values, and ensuring data quality.</a:t>
            </a:r>
          </a:p>
          <a:p>
            <a:pPr marR="0" lvl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ts val="300"/>
              </a:spcAft>
              <a:buClrTx/>
              <a:buSzTx/>
              <a:buFont typeface="Wingdings" panose="05000000000000000000" pitchFamily="2" charset="2"/>
              <a:buChar char="Ø"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Model Selection &amp; Optimization ModuleChoosing the best algorithm and fine-tuning it for improved performance.</a:t>
            </a:r>
          </a:p>
          <a:p>
            <a:pPr marR="0" lvl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ts val="300"/>
              </a:spcAft>
              <a:buClrTx/>
              <a:buSzTx/>
              <a:buFont typeface="Wingdings" panose="05000000000000000000" pitchFamily="2" charset="2"/>
              <a:buChar char="Ø"/>
            </a:pPr>
            <a:r>
              <a:rPr lang="en-US" alt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Training and Validation Teaching the model using training data and validating it to avoid overfitting.</a:t>
            </a:r>
          </a:p>
          <a:p>
            <a:pPr marR="0" lvl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ts val="300"/>
              </a:spcAft>
              <a:buClrTx/>
              <a:buSzTx/>
              <a:buFont typeface="Wingdings" panose="05000000000000000000" pitchFamily="2" charset="2"/>
              <a:buChar char="Ø"/>
            </a:pPr>
            <a:r>
              <a:rPr lang="en-US" alt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Testing Evaluating the model’s accuracy and generalization using unseen data</a:t>
            </a: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3686185" y="6459785"/>
            <a:ext cx="4822804" cy="365125"/>
          </a:xfrm>
        </p:spPr>
        <p:txBody>
          <a:bodyPr/>
          <a:lstStyle/>
          <a:p>
            <a:r>
              <a:rPr lang="en-IN" sz="1100" dirty="0"/>
              <a:t>20CS6202 - DESIGN PROJECT 2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9900458" y="6459785"/>
            <a:ext cx="1312025" cy="365125"/>
          </a:xfrm>
        </p:spPr>
        <p:txBody>
          <a:bodyPr/>
          <a:lstStyle/>
          <a:p>
            <a:fld id="{963B2B34-D4BB-400B-9ED9-C7A04F52518B}" type="slidenum">
              <a:rPr lang="en-IN" smtClean="0"/>
              <a:t>8</a:t>
            </a:fld>
            <a:endParaRPr lang="en-IN" dirty="0"/>
          </a:p>
        </p:txBody>
      </p:sp>
      <p:sp>
        <p:nvSpPr>
          <p:cNvPr id="5" name="TextBox 4"/>
          <p:cNvSpPr txBox="1"/>
          <p:nvPr/>
        </p:nvSpPr>
        <p:spPr>
          <a:xfrm>
            <a:off x="871405" y="6503847"/>
            <a:ext cx="236912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200" dirty="0">
                <a:solidFill>
                  <a:schemeClr val="bg1"/>
                </a:solidFill>
              </a:rPr>
              <a:t>DD/MM/YYYY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09423" y="314135"/>
            <a:ext cx="10058400" cy="1450757"/>
          </a:xfrm>
        </p:spPr>
        <p:txBody>
          <a:bodyPr anchor="ctr" anchorCtr="0">
            <a:normAutofit/>
          </a:bodyPr>
          <a:lstStyle/>
          <a:p>
            <a:pPr algn="ctr"/>
            <a:r>
              <a:rPr lang="en-IN" sz="4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SYSTEM ARCHITECTURE</a:t>
            </a: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6939" y="530910"/>
            <a:ext cx="978762" cy="953928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94982" y="530910"/>
            <a:ext cx="835001" cy="1078748"/>
          </a:xfrm>
          <a:prstGeom prst="rect">
            <a:avLst/>
          </a:prstGeom>
        </p:spPr>
      </p:pic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3686185" y="6459785"/>
            <a:ext cx="4822804" cy="365125"/>
          </a:xfrm>
        </p:spPr>
        <p:txBody>
          <a:bodyPr/>
          <a:lstStyle/>
          <a:p>
            <a:r>
              <a:rPr lang="en-IN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20CS6202 - DESIGN PROJECT 2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9900458" y="6459785"/>
            <a:ext cx="1312025" cy="365125"/>
          </a:xfrm>
        </p:spPr>
        <p:txBody>
          <a:bodyPr/>
          <a:lstStyle/>
          <a:p>
            <a:fld id="{963B2B34-D4BB-400B-9ED9-C7A04F52518B}" type="slidenum">
              <a:rPr lang="en-IN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9</a:t>
            </a:fld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871405" y="6503847"/>
            <a:ext cx="236912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2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DD/MM/YYYY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AB967D13-7A99-B709-6F3F-E7D8A41951E5}"/>
              </a:ext>
            </a:extLst>
          </p:cNvPr>
          <p:cNvSpPr/>
          <p:nvPr/>
        </p:nvSpPr>
        <p:spPr>
          <a:xfrm>
            <a:off x="545379" y="2272234"/>
            <a:ext cx="1972249" cy="914400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Objective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Definition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5AF8F9FA-2835-DAE6-31DE-2928C90EC319}"/>
              </a:ext>
            </a:extLst>
          </p:cNvPr>
          <p:cNvSpPr/>
          <p:nvPr/>
        </p:nvSpPr>
        <p:spPr>
          <a:xfrm>
            <a:off x="3480734" y="2290322"/>
            <a:ext cx="1972249" cy="914400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Experimental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Planning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EF71383A-65CC-E7D6-06C7-3B36D4548974}"/>
              </a:ext>
            </a:extLst>
          </p:cNvPr>
          <p:cNvSpPr/>
          <p:nvPr/>
        </p:nvSpPr>
        <p:spPr>
          <a:xfrm>
            <a:off x="6403301" y="2284190"/>
            <a:ext cx="2081981" cy="914400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Ethical Approval &amp; Consent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4785A37-3A48-0142-96D2-6F8AEF61CCFD}"/>
              </a:ext>
            </a:extLst>
          </p:cNvPr>
          <p:cNvSpPr/>
          <p:nvPr/>
        </p:nvSpPr>
        <p:spPr>
          <a:xfrm>
            <a:off x="9515479" y="2284189"/>
            <a:ext cx="2081981" cy="914400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Acquisition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A8765949-2400-A6E5-6E61-6CD998CF1053}"/>
              </a:ext>
            </a:extLst>
          </p:cNvPr>
          <p:cNvSpPr/>
          <p:nvPr/>
        </p:nvSpPr>
        <p:spPr>
          <a:xfrm>
            <a:off x="561250" y="4620088"/>
            <a:ext cx="2254045" cy="914400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Deployment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79FE6AC9-D23E-BD14-295B-6C11EF0B2B2F}"/>
              </a:ext>
            </a:extLst>
          </p:cNvPr>
          <p:cNvSpPr/>
          <p:nvPr/>
        </p:nvSpPr>
        <p:spPr>
          <a:xfrm>
            <a:off x="3592775" y="4597613"/>
            <a:ext cx="2028878" cy="914400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Validation &amp; Review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6C50041C-E1C3-BBF4-B0FE-7171F69B4636}"/>
              </a:ext>
            </a:extLst>
          </p:cNvPr>
          <p:cNvSpPr/>
          <p:nvPr/>
        </p:nvSpPr>
        <p:spPr>
          <a:xfrm>
            <a:off x="6496756" y="4597613"/>
            <a:ext cx="2254045" cy="914400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Model Development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E538F9A3-62DA-8082-4470-EB52B4429577}"/>
              </a:ext>
            </a:extLst>
          </p:cNvPr>
          <p:cNvSpPr/>
          <p:nvPr/>
        </p:nvSpPr>
        <p:spPr>
          <a:xfrm>
            <a:off x="9458304" y="4597613"/>
            <a:ext cx="2254045" cy="914400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</a:t>
            </a:r>
          </a:p>
          <a:p>
            <a:pPr algn="ctr"/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preprocessing</a:t>
            </a:r>
          </a:p>
        </p:txBody>
      </p: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9D9CFBC4-8157-FB70-C070-2510D71B3378}"/>
              </a:ext>
            </a:extLst>
          </p:cNvPr>
          <p:cNvCxnSpPr>
            <a:cxnSpLocks/>
          </p:cNvCxnSpPr>
          <p:nvPr/>
        </p:nvCxnSpPr>
        <p:spPr>
          <a:xfrm>
            <a:off x="2714587" y="2721541"/>
            <a:ext cx="525946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D1D4385B-4566-D75B-00E9-92FD48142938}"/>
              </a:ext>
            </a:extLst>
          </p:cNvPr>
          <p:cNvCxnSpPr>
            <a:cxnSpLocks/>
          </p:cNvCxnSpPr>
          <p:nvPr/>
        </p:nvCxnSpPr>
        <p:spPr>
          <a:xfrm>
            <a:off x="5586223" y="2721541"/>
            <a:ext cx="564193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0D4BB18F-A7C0-51D7-DF49-5BE070440CD8}"/>
              </a:ext>
            </a:extLst>
          </p:cNvPr>
          <p:cNvCxnSpPr>
            <a:cxnSpLocks/>
          </p:cNvCxnSpPr>
          <p:nvPr/>
        </p:nvCxnSpPr>
        <p:spPr>
          <a:xfrm>
            <a:off x="8698133" y="2765339"/>
            <a:ext cx="564193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6BB01619-4CBE-380F-488E-E08FD46D79BA}"/>
              </a:ext>
            </a:extLst>
          </p:cNvPr>
          <p:cNvCxnSpPr>
            <a:cxnSpLocks/>
          </p:cNvCxnSpPr>
          <p:nvPr/>
        </p:nvCxnSpPr>
        <p:spPr>
          <a:xfrm>
            <a:off x="10550344" y="3429000"/>
            <a:ext cx="0" cy="896539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6148EAA3-BBD8-76FD-F1FB-E4099C5D2779}"/>
              </a:ext>
            </a:extLst>
          </p:cNvPr>
          <p:cNvCxnSpPr>
            <a:cxnSpLocks/>
          </p:cNvCxnSpPr>
          <p:nvPr/>
        </p:nvCxnSpPr>
        <p:spPr>
          <a:xfrm flipH="1">
            <a:off x="5738623" y="5120641"/>
            <a:ext cx="489457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id="{A57C8E57-2224-86DE-9F6D-CF65E5EB0231}"/>
              </a:ext>
            </a:extLst>
          </p:cNvPr>
          <p:cNvCxnSpPr>
            <a:cxnSpLocks/>
          </p:cNvCxnSpPr>
          <p:nvPr/>
        </p:nvCxnSpPr>
        <p:spPr>
          <a:xfrm flipH="1">
            <a:off x="2882505" y="5093108"/>
            <a:ext cx="480455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78E9F0CD-D585-6FF1-5BDA-1BDA7DB753DA}"/>
              </a:ext>
            </a:extLst>
          </p:cNvPr>
          <p:cNvCxnSpPr>
            <a:cxnSpLocks/>
          </p:cNvCxnSpPr>
          <p:nvPr/>
        </p:nvCxnSpPr>
        <p:spPr>
          <a:xfrm flipH="1">
            <a:off x="8859824" y="5191761"/>
            <a:ext cx="489457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803400" y="502049"/>
            <a:ext cx="8585200" cy="1078748"/>
          </a:xfrm>
        </p:spPr>
        <p:txBody>
          <a:bodyPr anchor="ctr" anchorCtr="0">
            <a:normAutofit fontScale="90000"/>
          </a:bodyPr>
          <a:lstStyle/>
          <a:p>
            <a:pPr algn="ctr">
              <a:lnSpc>
                <a:spcPct val="85000"/>
              </a:lnSpc>
            </a:pPr>
            <a:r>
              <a:rPr lang="en-IN" sz="4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MODULE 1 : </a:t>
            </a:r>
            <a:r>
              <a:rPr lang="en-US" altLang="en-IN" sz="4400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DATA EXPLORATION </a:t>
            </a: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1066" y="564459"/>
            <a:ext cx="978762" cy="953928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94982" y="439639"/>
            <a:ext cx="835001" cy="1078748"/>
          </a:xfrm>
          <a:prstGeom prst="rect">
            <a:avLst/>
          </a:prstGeom>
        </p:spPr>
      </p:pic>
      <p:sp>
        <p:nvSpPr>
          <p:cNvPr id="10" name="Rectangle 2"/>
          <p:cNvSpPr>
            <a:spLocks noGrp="1" noChangeArrowheads="1"/>
          </p:cNvSpPr>
          <p:nvPr>
            <p:ph idx="1"/>
          </p:nvPr>
        </p:nvSpPr>
        <p:spPr bwMode="auto">
          <a:xfrm>
            <a:off x="871405" y="2015216"/>
            <a:ext cx="10927305" cy="367613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spAutoFit/>
          </a:bodyPr>
          <a:lstStyle/>
          <a:p>
            <a:pPr lvl="0" algn="just" rtl="0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tx1"/>
              </a:buClr>
              <a:buSzPts val="2800"/>
              <a:buFont typeface="Wingdings" panose="05000000000000000000" pitchFamily="2" charset="2"/>
              <a:buChar char="Ø"/>
            </a:pPr>
            <a:r>
              <a:rPr lang="en-US" altLang="en-GB" dirty="0"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Predict mental health outcomes using machine learning algorithms , the process starts with exploring the dataset to understand its structure.</a:t>
            </a:r>
          </a:p>
          <a:p>
            <a:pPr lvl="0" algn="just" rtl="0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tx1"/>
              </a:buClr>
              <a:buSzPts val="2800"/>
              <a:buFont typeface="Wingdings" panose="05000000000000000000" pitchFamily="2" charset="2"/>
              <a:buChar char="Ø"/>
            </a:pPr>
            <a:r>
              <a:rPr lang="en-US" altLang="en-GB" dirty="0"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Data preprocessing follows, addressing missing values, encoding categorical variables, and splitting the data into training and testing sets.</a:t>
            </a:r>
          </a:p>
          <a:p>
            <a:pPr lvl="0" algn="just" rtl="0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tx1"/>
              </a:buClr>
              <a:buSzPts val="2800"/>
              <a:buFont typeface="Wingdings" panose="05000000000000000000" pitchFamily="2" charset="2"/>
              <a:buChar char="Ø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preparation includes handling missing values, transforming categorical variables, and dividing the dataset into training and testing subsets</a:t>
            </a:r>
            <a:r>
              <a:rPr lang="en-US" altLang="en-GB" dirty="0"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.</a:t>
            </a:r>
          </a:p>
          <a:p>
            <a:pPr algn="just">
              <a:lnSpc>
                <a:spcPct val="150000"/>
              </a:lnSpc>
              <a:buClr>
                <a:schemeClr val="tx1"/>
              </a:buClr>
              <a:buFont typeface="Wingdings" panose="05000000000000000000" pitchFamily="2" charset="2"/>
              <a:buChar char="Ø"/>
            </a:pPr>
            <a:endParaRPr kumimoji="0" lang="en-US" altLang="en-US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 Narrow" panose="020B0606020202030204" pitchFamily="34" charset="0"/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3686185" y="6459785"/>
            <a:ext cx="4822804" cy="365125"/>
          </a:xfrm>
        </p:spPr>
        <p:txBody>
          <a:bodyPr/>
          <a:lstStyle/>
          <a:p>
            <a:r>
              <a:rPr lang="en-IN" sz="1100" dirty="0"/>
              <a:t>20CS6202 - DESIGN PROJECT 2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9900458" y="6459785"/>
            <a:ext cx="1312025" cy="365125"/>
          </a:xfrm>
        </p:spPr>
        <p:txBody>
          <a:bodyPr/>
          <a:lstStyle/>
          <a:p>
            <a:fld id="{963B2B34-D4BB-400B-9ED9-C7A04F52518B}" type="slidenum">
              <a:rPr lang="en-IN" smtClean="0"/>
              <a:t>10</a:t>
            </a:fld>
            <a:endParaRPr lang="en-IN" dirty="0"/>
          </a:p>
        </p:txBody>
      </p:sp>
      <p:sp>
        <p:nvSpPr>
          <p:cNvPr id="5" name="TextBox 4"/>
          <p:cNvSpPr txBox="1"/>
          <p:nvPr/>
        </p:nvSpPr>
        <p:spPr>
          <a:xfrm>
            <a:off x="871405" y="6503847"/>
            <a:ext cx="236912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200" dirty="0">
                <a:solidFill>
                  <a:schemeClr val="bg1"/>
                </a:solidFill>
              </a:rPr>
              <a:t>DD/MM/YYYY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anchor="ctr" anchorCtr="0">
            <a:normAutofit/>
          </a:bodyPr>
          <a:lstStyle/>
          <a:p>
            <a:pPr algn="ctr"/>
            <a:r>
              <a:rPr lang="en-IN" sz="4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MODULE 2 :</a:t>
            </a:r>
            <a:r>
              <a:rPr lang="en-US" altLang="en-IN" sz="4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DATA CLEANING</a:t>
            </a: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9498" y="574979"/>
            <a:ext cx="978762" cy="953928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77219" y="512569"/>
            <a:ext cx="835001" cy="1078748"/>
          </a:xfrm>
          <a:prstGeom prst="rect">
            <a:avLst/>
          </a:prstGeom>
        </p:spPr>
      </p:pic>
      <p:sp>
        <p:nvSpPr>
          <p:cNvPr id="10" name="Rectangle 2"/>
          <p:cNvSpPr>
            <a:spLocks noGrp="1" noChangeArrowheads="1"/>
          </p:cNvSpPr>
          <p:nvPr>
            <p:ph idx="1"/>
          </p:nvPr>
        </p:nvSpPr>
        <p:spPr bwMode="auto">
          <a:xfrm>
            <a:off x="871405" y="2282936"/>
            <a:ext cx="11064956" cy="377731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spAutoFit/>
          </a:bodyPr>
          <a:lstStyle/>
          <a:p>
            <a:pPr lvl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SzPts val="2800"/>
              <a:buFont typeface="Wingdings" panose="05000000000000000000" pitchFamily="2" charset="2"/>
              <a:buChar char="Ø"/>
            </a:pPr>
            <a:r>
              <a:rPr lang="en-US" altLang="en-GB" dirty="0"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Data cleaning ensures the dataset is accurate, consistent, and reliable.</a:t>
            </a:r>
          </a:p>
          <a:p>
            <a:pPr lvl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SzPts val="2800"/>
              <a:buFont typeface="Wingdings" panose="05000000000000000000" pitchFamily="2" charset="2"/>
              <a:buChar char="Ø"/>
            </a:pPr>
            <a:r>
              <a:rPr lang="en-US" altLang="en-GB" dirty="0"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 Duplicate records should be removed to avoid bias, and invalid or inconsistent data, like incorrect age values, must be fixed or excluded.</a:t>
            </a:r>
          </a:p>
          <a:p>
            <a:pPr lvl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SzPts val="2800"/>
              <a:buFont typeface="Wingdings" panose="05000000000000000000" pitchFamily="2" charset="2"/>
              <a:buChar char="Ø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Duplicate records should be removed to avoid bias, and invalid or inconsistent data, such as erroneous age values, must be corrected or excluded.</a:t>
            </a:r>
            <a:endParaRPr lang="en-US" altLang="en-GB" dirty="0">
              <a:latin typeface="Times New Roman" panose="02020603050405020304" pitchFamily="18" charset="0"/>
              <a:ea typeface="Times New Roman" panose="02020603050405020304"/>
              <a:cs typeface="Times New Roman" panose="02020603050405020304" pitchFamily="18" charset="0"/>
              <a:sym typeface="Times New Roman" panose="02020603050405020304"/>
            </a:endParaRPr>
          </a:p>
          <a:p>
            <a:pPr lvl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SzPts val="2800"/>
            </a:pPr>
            <a:endParaRPr lang="en-US" altLang="en-GB" sz="3200" dirty="0">
              <a:latin typeface="Times New Roman" panose="02020603050405020304" pitchFamily="18" charset="0"/>
              <a:ea typeface="Times New Roman" panose="02020603050405020304"/>
              <a:cs typeface="Times New Roman" panose="02020603050405020304" pitchFamily="18" charset="0"/>
              <a:sym typeface="Times New Roman" panose="02020603050405020304"/>
            </a:endParaRPr>
          </a:p>
          <a:p>
            <a:pPr algn="just">
              <a:lnSpc>
                <a:spcPct val="150000"/>
              </a:lnSpc>
              <a:buClr>
                <a:schemeClr val="tx1"/>
              </a:buClr>
              <a:buFont typeface="Wingdings" panose="05000000000000000000" pitchFamily="2" charset="2"/>
              <a:buChar char="Ø"/>
            </a:pPr>
            <a:endParaRPr lang="en-US" sz="2400" dirty="0">
              <a:latin typeface="Arial Narrow" panose="020B0606020202030204" pitchFamily="34" charset="0"/>
            </a:endParaRPr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3686185" y="6459785"/>
            <a:ext cx="4822804" cy="365125"/>
          </a:xfrm>
        </p:spPr>
        <p:txBody>
          <a:bodyPr/>
          <a:lstStyle/>
          <a:p>
            <a:r>
              <a:rPr lang="en-IN" sz="1100" dirty="0"/>
              <a:t>20CS6202 - DESIGN PROJECT 2</a:t>
            </a:r>
          </a:p>
        </p:txBody>
      </p:sp>
      <p:sp>
        <p:nvSpPr>
          <p:cNvPr id="9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9900458" y="6459785"/>
            <a:ext cx="1312025" cy="365125"/>
          </a:xfrm>
        </p:spPr>
        <p:txBody>
          <a:bodyPr/>
          <a:lstStyle/>
          <a:p>
            <a:fld id="{963B2B34-D4BB-400B-9ED9-C7A04F52518B}" type="slidenum">
              <a:rPr lang="en-IN" smtClean="0"/>
              <a:t>11</a:t>
            </a:fld>
            <a:endParaRPr lang="en-IN" dirty="0"/>
          </a:p>
        </p:txBody>
      </p:sp>
      <p:sp>
        <p:nvSpPr>
          <p:cNvPr id="11" name="TextBox 10"/>
          <p:cNvSpPr txBox="1"/>
          <p:nvPr/>
        </p:nvSpPr>
        <p:spPr>
          <a:xfrm>
            <a:off x="871405" y="6503847"/>
            <a:ext cx="236912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200" dirty="0">
                <a:solidFill>
                  <a:schemeClr val="bg1"/>
                </a:solidFill>
              </a:rPr>
              <a:t>DD/MM/YYYY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32280" y="781576"/>
            <a:ext cx="8382000" cy="665553"/>
          </a:xfrm>
        </p:spPr>
        <p:txBody>
          <a:bodyPr anchor="ctr" anchorCtr="0">
            <a:normAutofit fontScale="90000"/>
          </a:bodyPr>
          <a:lstStyle/>
          <a:p>
            <a:pPr algn="ctr"/>
            <a:r>
              <a:rPr lang="en-IN" sz="4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MODULE 3 : </a:t>
            </a:r>
            <a:r>
              <a:rPr lang="en-US" altLang="en-IN" sz="4400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MODEL SELECTION &amp; OPTIMIZATION MODULE </a:t>
            </a:r>
            <a:endParaRPr lang="en-IN" sz="4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2423" y="530918"/>
            <a:ext cx="978762" cy="953928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56470" y="574979"/>
            <a:ext cx="835001" cy="1078748"/>
          </a:xfrm>
          <a:prstGeom prst="rect">
            <a:avLst/>
          </a:prstGeom>
        </p:spPr>
      </p:pic>
      <p:sp>
        <p:nvSpPr>
          <p:cNvPr id="4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3686185" y="6459785"/>
            <a:ext cx="4822804" cy="365125"/>
          </a:xfrm>
        </p:spPr>
        <p:txBody>
          <a:bodyPr/>
          <a:lstStyle/>
          <a:p>
            <a:r>
              <a:rPr lang="en-IN" sz="1100" dirty="0"/>
              <a:t>20CS6202 - DESIGN PROJECT 2</a:t>
            </a:r>
          </a:p>
        </p:txBody>
      </p:sp>
      <p:sp>
        <p:nvSpPr>
          <p:cNvPr id="5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9900458" y="6459785"/>
            <a:ext cx="1312025" cy="365125"/>
          </a:xfrm>
        </p:spPr>
        <p:txBody>
          <a:bodyPr/>
          <a:lstStyle/>
          <a:p>
            <a:fld id="{963B2B34-D4BB-400B-9ED9-C7A04F52518B}" type="slidenum">
              <a:rPr lang="en-IN" smtClean="0"/>
              <a:t>12</a:t>
            </a:fld>
            <a:endParaRPr lang="en-IN" dirty="0"/>
          </a:p>
        </p:txBody>
      </p:sp>
      <p:sp>
        <p:nvSpPr>
          <p:cNvPr id="9" name="TextBox 8"/>
          <p:cNvSpPr txBox="1"/>
          <p:nvPr/>
        </p:nvSpPr>
        <p:spPr>
          <a:xfrm>
            <a:off x="871405" y="6503847"/>
            <a:ext cx="236912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200" dirty="0">
                <a:solidFill>
                  <a:schemeClr val="bg1"/>
                </a:solidFill>
              </a:rPr>
              <a:t>DD/MM/YYYY</a:t>
            </a:r>
          </a:p>
        </p:txBody>
      </p:sp>
      <p:sp>
        <p:nvSpPr>
          <p:cNvPr id="10" name="Rectangle 2"/>
          <p:cNvSpPr>
            <a:spLocks noGrp="1" noChangeArrowheads="1"/>
          </p:cNvSpPr>
          <p:nvPr>
            <p:ph idx="1"/>
          </p:nvPr>
        </p:nvSpPr>
        <p:spPr bwMode="auto">
          <a:xfrm>
            <a:off x="952685" y="2017389"/>
            <a:ext cx="10982114" cy="390985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spAutoFit/>
          </a:bodyPr>
          <a:lstStyle/>
          <a:p>
            <a:pPr lvl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Wingdings" panose="05000000000000000000" pitchFamily="2" charset="2"/>
              <a:buChar char="Ø"/>
            </a:pPr>
            <a:r>
              <a:rPr lang="en-US" altLang="en-GB" dirty="0">
                <a:latin typeface="Times New Roman" panose="02020603050405020304" pitchFamily="18" charset="0"/>
                <a:ea typeface="Times New Roman" panose="02020603050405020304"/>
                <a:cs typeface="Times New Roman" panose="02020603050405020304" pitchFamily="18" charset="0"/>
                <a:sym typeface="Times New Roman" panose="02020603050405020304"/>
              </a:rPr>
              <a:t>The Model Selection &amp; Optimization module focuses on enhancing the accuracy and efficiency of mental health prediction.</a:t>
            </a:r>
          </a:p>
          <a:p>
            <a:pPr lvl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Wingdings" panose="05000000000000000000" pitchFamily="2" charset="2"/>
              <a:buChar char="Ø"/>
            </a:pPr>
            <a:r>
              <a:rPr lang="en-US" altLang="en-GB" dirty="0">
                <a:latin typeface="Times New Roman" panose="02020603050405020304" pitchFamily="18" charset="0"/>
                <a:ea typeface="Times New Roman" panose="02020603050405020304"/>
                <a:cs typeface="Times New Roman" panose="02020603050405020304" pitchFamily="18" charset="0"/>
                <a:sym typeface="Times New Roman" panose="02020603050405020304"/>
              </a:rPr>
              <a:t>It module involves selecting the best-performing model through techniques such as cross-validation, hyperparameter tuning and feature selection.</a:t>
            </a:r>
          </a:p>
          <a:p>
            <a:pPr lvl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Wingdings" panose="05000000000000000000" pitchFamily="2" charset="2"/>
              <a:buChar char="Ø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process involves selecting the most effective model using methods like cross-validation and hyperparameter optimization.</a:t>
            </a:r>
            <a:endParaRPr lang="en-US" altLang="en-GB" dirty="0">
              <a:latin typeface="Times New Roman" panose="02020603050405020304" pitchFamily="18" charset="0"/>
              <a:ea typeface="Times New Roman" panose="02020603050405020304"/>
              <a:cs typeface="Times New Roman" panose="02020603050405020304" pitchFamily="18" charset="0"/>
              <a:sym typeface="Times New Roman" panose="02020603050405020304"/>
            </a:endParaRPr>
          </a:p>
          <a:p>
            <a:pPr algn="just">
              <a:lnSpc>
                <a:spcPct val="150000"/>
              </a:lnSpc>
              <a:buClr>
                <a:schemeClr val="tx1"/>
              </a:buClr>
              <a:buFont typeface="Wingdings" panose="05000000000000000000" pitchFamily="2" charset="2"/>
              <a:buChar char="Ø"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Tx/>
              <a:buFont typeface="Wingdings" panose="05000000000000000000" pitchFamily="2" charset="2"/>
              <a:buChar char="Ø"/>
            </a:pPr>
            <a:endParaRPr kumimoji="0" lang="en-US" altLang="en-US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anchor="ctr" anchorCtr="0">
            <a:normAutofit/>
          </a:bodyPr>
          <a:lstStyle/>
          <a:p>
            <a:pPr algn="ctr"/>
            <a:r>
              <a:rPr lang="en-IN" sz="4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MODULE 4 : </a:t>
            </a:r>
            <a:r>
              <a:rPr lang="en-US" altLang="en-IN" sz="4400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TRAINING AND VALIDATION</a:t>
            </a:r>
            <a:endParaRPr lang="en-IN" sz="4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6939" y="470446"/>
            <a:ext cx="978762" cy="953928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77219" y="500223"/>
            <a:ext cx="835001" cy="1078748"/>
          </a:xfrm>
          <a:prstGeom prst="rect">
            <a:avLst/>
          </a:prstGeom>
        </p:spPr>
      </p:pic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3686185" y="6459785"/>
            <a:ext cx="4822804" cy="365125"/>
          </a:xfrm>
        </p:spPr>
        <p:txBody>
          <a:bodyPr/>
          <a:lstStyle/>
          <a:p>
            <a:r>
              <a:rPr lang="en-IN" sz="1100" dirty="0"/>
              <a:t>20CS6202 - DESIGN PROJECT 2</a:t>
            </a:r>
          </a:p>
        </p:txBody>
      </p:sp>
      <p:sp>
        <p:nvSpPr>
          <p:cNvPr id="10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9900458" y="6459785"/>
            <a:ext cx="1312025" cy="365125"/>
          </a:xfrm>
        </p:spPr>
        <p:txBody>
          <a:bodyPr/>
          <a:lstStyle/>
          <a:p>
            <a:fld id="{963B2B34-D4BB-400B-9ED9-C7A04F52518B}" type="slidenum">
              <a:rPr lang="en-IN" smtClean="0"/>
              <a:t>13</a:t>
            </a:fld>
            <a:endParaRPr lang="en-IN" dirty="0"/>
          </a:p>
        </p:txBody>
      </p:sp>
      <p:sp>
        <p:nvSpPr>
          <p:cNvPr id="11" name="TextBox 10"/>
          <p:cNvSpPr txBox="1"/>
          <p:nvPr/>
        </p:nvSpPr>
        <p:spPr>
          <a:xfrm>
            <a:off x="871405" y="6503847"/>
            <a:ext cx="236912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200" dirty="0">
                <a:solidFill>
                  <a:schemeClr val="bg1"/>
                </a:solidFill>
              </a:rPr>
              <a:t>DD/MM/YYYY</a:t>
            </a:r>
          </a:p>
        </p:txBody>
      </p:sp>
      <p:sp>
        <p:nvSpPr>
          <p:cNvPr id="13" name="Rectangle 2"/>
          <p:cNvSpPr>
            <a:spLocks noGrp="1" noChangeArrowheads="1"/>
          </p:cNvSpPr>
          <p:nvPr>
            <p:ph idx="1"/>
          </p:nvPr>
        </p:nvSpPr>
        <p:spPr bwMode="auto">
          <a:xfrm>
            <a:off x="462633" y="2012801"/>
            <a:ext cx="11552385" cy="385855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spAutoFit/>
          </a:bodyPr>
          <a:lstStyle/>
          <a:p>
            <a:pPr lvl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Wingdings" panose="05000000000000000000" pitchFamily="2" charset="2"/>
              <a:buChar char="Ø"/>
            </a:pPr>
            <a:r>
              <a:rPr lang="en-US" altLang="en-GB" dirty="0">
                <a:latin typeface="Times New Roman" panose="02020603050405020304" pitchFamily="18" charset="0"/>
                <a:ea typeface="Times New Roman" panose="02020603050405020304"/>
                <a:cs typeface="Times New Roman" panose="02020603050405020304" pitchFamily="18" charset="0"/>
                <a:sym typeface="Times New Roman" panose="02020603050405020304"/>
              </a:rPr>
              <a:t>In this module, the dataset is split into training and validation sets to build and fine-tune the models.</a:t>
            </a:r>
          </a:p>
          <a:p>
            <a:pPr lvl="0" algn="just" rtl="0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Wingdings" panose="05000000000000000000" pitchFamily="2" charset="2"/>
              <a:buChar char="Ø"/>
            </a:pPr>
            <a:r>
              <a:rPr lang="en-US" altLang="en-GB" dirty="0">
                <a:latin typeface="Times New Roman" panose="02020603050405020304" pitchFamily="18" charset="0"/>
                <a:ea typeface="Times New Roman" panose="02020603050405020304"/>
                <a:cs typeface="Times New Roman" panose="02020603050405020304" pitchFamily="18" charset="0"/>
                <a:sym typeface="Times New Roman" panose="02020603050405020304"/>
              </a:rPr>
              <a:t>Metrics such as accuracy, precision, recall, and F1-score are calculated to evaluate the models.</a:t>
            </a:r>
            <a:endParaRPr lang="en-US" dirty="0">
              <a:latin typeface="Times New Roman" panose="02020603050405020304" pitchFamily="18" charset="0"/>
              <a:ea typeface="Times New Roman" panose="02020603050405020304"/>
              <a:cs typeface="Times New Roman" panose="02020603050405020304" pitchFamily="18" charset="0"/>
              <a:sym typeface="Times New Roman" panose="02020603050405020304"/>
            </a:endParaRPr>
          </a:p>
          <a:p>
            <a:pPr lvl="0" algn="just" rtl="0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Wingdings" panose="05000000000000000000" pitchFamily="2" charset="2"/>
              <a:buChar char="Ø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Validation is carried out by assessing the models on a distinct validation set to gauge their ability to generalize. Metrics such as accuracy, precision, recall, and F1-score are computed to assess model performance.</a:t>
            </a:r>
            <a:endParaRPr lang="en-US" dirty="0">
              <a:latin typeface="Times New Roman" panose="02020603050405020304" pitchFamily="18" charset="0"/>
              <a:ea typeface="Times New Roman" panose="02020603050405020304"/>
              <a:cs typeface="Times New Roman" panose="02020603050405020304" pitchFamily="18" charset="0"/>
              <a:sym typeface="Times New Roman" panose="02020603050405020304"/>
            </a:endParaRP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lnSpc>
                <a:spcPct val="150000"/>
              </a:lnSpc>
              <a:buClr>
                <a:schemeClr val="tx1"/>
              </a:buClr>
              <a:buNone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anchor="ctr" anchorCtr="0">
            <a:normAutofit/>
          </a:bodyPr>
          <a:lstStyle/>
          <a:p>
            <a:pPr algn="ctr"/>
            <a:r>
              <a:rPr lang="en-IN" sz="4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MODULE 5 :</a:t>
            </a:r>
            <a:r>
              <a:rPr lang="en-US" altLang="en-IN" sz="4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TESTING</a:t>
            </a: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9498" y="574979"/>
            <a:ext cx="978762" cy="953928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38493" y="574979"/>
            <a:ext cx="835001" cy="1078748"/>
          </a:xfrm>
          <a:prstGeom prst="rect">
            <a:avLst/>
          </a:prstGeom>
        </p:spPr>
      </p:pic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3686185" y="6459785"/>
            <a:ext cx="4822804" cy="365125"/>
          </a:xfrm>
        </p:spPr>
        <p:txBody>
          <a:bodyPr/>
          <a:lstStyle/>
          <a:p>
            <a:r>
              <a:rPr lang="en-IN" sz="1100" dirty="0"/>
              <a:t>20CS6202 - DESIGN PROJECT 2</a:t>
            </a:r>
          </a:p>
        </p:txBody>
      </p:sp>
      <p:sp>
        <p:nvSpPr>
          <p:cNvPr id="5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9900458" y="6459785"/>
            <a:ext cx="1312025" cy="365125"/>
          </a:xfrm>
        </p:spPr>
        <p:txBody>
          <a:bodyPr/>
          <a:lstStyle/>
          <a:p>
            <a:fld id="{963B2B34-D4BB-400B-9ED9-C7A04F52518B}" type="slidenum">
              <a:rPr lang="en-IN" smtClean="0"/>
              <a:t>14</a:t>
            </a:fld>
            <a:endParaRPr lang="en-IN" dirty="0"/>
          </a:p>
        </p:txBody>
      </p:sp>
      <p:sp>
        <p:nvSpPr>
          <p:cNvPr id="11" name="TextBox 10"/>
          <p:cNvSpPr txBox="1"/>
          <p:nvPr/>
        </p:nvSpPr>
        <p:spPr>
          <a:xfrm>
            <a:off x="871405" y="6503847"/>
            <a:ext cx="236912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200" dirty="0">
                <a:solidFill>
                  <a:schemeClr val="bg1"/>
                </a:solidFill>
              </a:rPr>
              <a:t>DD/MM/YYYY</a:t>
            </a:r>
          </a:p>
        </p:txBody>
      </p:sp>
      <p:sp>
        <p:nvSpPr>
          <p:cNvPr id="13" name="Rectangle 2"/>
          <p:cNvSpPr>
            <a:spLocks noGrp="1" noChangeArrowheads="1"/>
          </p:cNvSpPr>
          <p:nvPr>
            <p:ph idx="1"/>
          </p:nvPr>
        </p:nvSpPr>
        <p:spPr bwMode="auto">
          <a:xfrm>
            <a:off x="682939" y="1942103"/>
            <a:ext cx="10939111" cy="4935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spAutoFit/>
          </a:bodyPr>
          <a:lstStyle/>
          <a:p>
            <a:pPr algn="just">
              <a:lnSpc>
                <a:spcPct val="150000"/>
              </a:lnSpc>
              <a:spcBef>
                <a:spcPts val="0"/>
              </a:spcBef>
              <a:buClr>
                <a:schemeClr val="tx1"/>
              </a:buClr>
              <a:buSzPts val="2800"/>
              <a:buFont typeface="Wingdings" panose="05000000000000000000" pitchFamily="2" charset="2"/>
              <a:buChar char="Ø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en-US" altLang="en-GB" dirty="0">
                <a:latin typeface="Times New Roman" panose="02020603050405020304" pitchFamily="18" charset="0"/>
                <a:ea typeface="Times New Roman" panose="02020603050405020304"/>
                <a:cs typeface="Times New Roman" panose="02020603050405020304" pitchFamily="18" charset="0"/>
                <a:sym typeface="Times New Roman" panose="02020603050405020304"/>
              </a:rPr>
              <a:t> The testing module uses the models trained in the previous module to evaluate their performance on a separate test dataset. </a:t>
            </a:r>
          </a:p>
          <a:p>
            <a:pPr algn="just">
              <a:lnSpc>
                <a:spcPct val="150000"/>
              </a:lnSpc>
              <a:buClr>
                <a:schemeClr val="tx1"/>
              </a:buClr>
              <a:buSzPts val="2800"/>
              <a:buFont typeface="Wingdings" panose="05000000000000000000" pitchFamily="2" charset="2"/>
              <a:buChar char="Ø"/>
            </a:pPr>
            <a:r>
              <a:rPr lang="en-US" altLang="en-GB" dirty="0">
                <a:latin typeface="Times New Roman" panose="02020603050405020304" pitchFamily="18" charset="0"/>
                <a:ea typeface="Times New Roman" panose="02020603050405020304"/>
                <a:cs typeface="Times New Roman" panose="02020603050405020304" pitchFamily="18" charset="0"/>
                <a:sym typeface="Times New Roman" panose="02020603050405020304"/>
              </a:rPr>
              <a:t>The models classify mental health conditions based on the input features and generate predictions for each test instance. </a:t>
            </a:r>
            <a:endParaRPr lang="en-US" dirty="0">
              <a:latin typeface="Times New Roman" panose="02020603050405020304" pitchFamily="18" charset="0"/>
              <a:ea typeface="Times New Roman" panose="02020603050405020304"/>
              <a:cs typeface="Times New Roman" panose="02020603050405020304" pitchFamily="18" charset="0"/>
              <a:sym typeface="Times New Roman" panose="02020603050405020304"/>
            </a:endParaRPr>
          </a:p>
          <a:p>
            <a:pPr algn="just">
              <a:lnSpc>
                <a:spcPct val="150000"/>
              </a:lnSpc>
              <a:buClr>
                <a:schemeClr val="tx1"/>
              </a:buClr>
              <a:buSzPts val="2800"/>
              <a:buFont typeface="Wingdings" panose="05000000000000000000" pitchFamily="2" charset="2"/>
              <a:buChar char="Ø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testing phase utilizes models trained earlier to assess their performance on a separate test dataset, containing data that wasn't part of the training process.</a:t>
            </a:r>
            <a:endParaRPr lang="en-US" dirty="0">
              <a:latin typeface="Times New Roman" panose="02020603050405020304" pitchFamily="18" charset="0"/>
              <a:ea typeface="Times New Roman" panose="02020603050405020304"/>
              <a:cs typeface="Times New Roman" panose="02020603050405020304" pitchFamily="18" charset="0"/>
              <a:sym typeface="Times New Roman" panose="02020603050405020304"/>
            </a:endParaRPr>
          </a:p>
          <a:p>
            <a:pPr>
              <a:lnSpc>
                <a:spcPct val="150000"/>
              </a:lnSpc>
              <a:buClr>
                <a:schemeClr val="tx1"/>
              </a:buClr>
              <a:buFont typeface="Wingdings" panose="05000000000000000000" pitchFamily="2" charset="2"/>
              <a:buChar char="Ø"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150000"/>
              </a:lnSpc>
              <a:buClr>
                <a:schemeClr val="tx1"/>
              </a:buClr>
              <a:buFont typeface="Wingdings" panose="05000000000000000000" pitchFamily="2" charset="2"/>
              <a:buChar char="Ø"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Tx/>
              <a:buFont typeface="Wingdings" panose="05000000000000000000" pitchFamily="2" charset="2"/>
              <a:buChar char="Ø"/>
            </a:pPr>
            <a:endParaRPr kumimoji="0" lang="en-US" altLang="en-US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anchor="ctr" anchorCtr="0">
            <a:normAutofit/>
          </a:bodyPr>
          <a:lstStyle/>
          <a:p>
            <a:pPr algn="ctr"/>
            <a:r>
              <a:rPr lang="en-IN" sz="4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OUTPUT</a:t>
            </a: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9498" y="574979"/>
            <a:ext cx="978762" cy="953928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38493" y="574979"/>
            <a:ext cx="835001" cy="1078748"/>
          </a:xfrm>
          <a:prstGeom prst="rect">
            <a:avLst/>
          </a:prstGeom>
        </p:spPr>
      </p:pic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3686185" y="6459785"/>
            <a:ext cx="4822804" cy="365125"/>
          </a:xfrm>
        </p:spPr>
        <p:txBody>
          <a:bodyPr/>
          <a:lstStyle/>
          <a:p>
            <a:r>
              <a:rPr lang="en-IN" sz="1100" dirty="0"/>
              <a:t>20CS6202 - DESIGN PROJECT 2</a:t>
            </a:r>
          </a:p>
        </p:txBody>
      </p:sp>
      <p:sp>
        <p:nvSpPr>
          <p:cNvPr id="5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9900458" y="6459785"/>
            <a:ext cx="1312025" cy="365125"/>
          </a:xfrm>
        </p:spPr>
        <p:txBody>
          <a:bodyPr/>
          <a:lstStyle/>
          <a:p>
            <a:fld id="{963B2B34-D4BB-400B-9ED9-C7A04F52518B}" type="slidenum">
              <a:rPr lang="en-IN" smtClean="0"/>
              <a:t>15</a:t>
            </a:fld>
            <a:endParaRPr lang="en-IN" dirty="0"/>
          </a:p>
        </p:txBody>
      </p:sp>
      <p:sp>
        <p:nvSpPr>
          <p:cNvPr id="11" name="TextBox 10"/>
          <p:cNvSpPr txBox="1"/>
          <p:nvPr/>
        </p:nvSpPr>
        <p:spPr>
          <a:xfrm>
            <a:off x="871405" y="6503847"/>
            <a:ext cx="236912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200" dirty="0">
                <a:solidFill>
                  <a:schemeClr val="bg1"/>
                </a:solidFill>
              </a:rPr>
              <a:t>DD/MM/YYYY</a:t>
            </a:r>
          </a:p>
        </p:txBody>
      </p:sp>
      <p:pic>
        <p:nvPicPr>
          <p:cNvPr id="4" name="object 2">
            <a:extLst>
              <a:ext uri="{FF2B5EF4-FFF2-40B4-BE49-F238E27FC236}">
                <a16:creationId xmlns:a16="http://schemas.microsoft.com/office/drawing/2014/main" id="{55A718AE-0914-B659-3FAD-10BF4C96652D}"/>
              </a:ext>
            </a:extLst>
          </p:cNvPr>
          <p:cNvPicPr>
            <a:picLocks noGrp="1"/>
          </p:cNvPicPr>
          <p:nvPr>
            <p:ph idx="1"/>
          </p:nvPr>
        </p:nvPicPr>
        <p:blipFill>
          <a:blip r:embed="rId4" cstate="print"/>
          <a:stretch>
            <a:fillRect/>
          </a:stretch>
        </p:blipFill>
        <p:spPr>
          <a:xfrm>
            <a:off x="579498" y="2238714"/>
            <a:ext cx="11081560" cy="3972232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anchor="ctr" anchorCtr="0">
            <a:normAutofit/>
          </a:bodyPr>
          <a:lstStyle/>
          <a:p>
            <a:pPr algn="ctr"/>
            <a:r>
              <a:rPr lang="en-IN" sz="4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OUTPUT</a:t>
            </a: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9498" y="574979"/>
            <a:ext cx="978762" cy="953928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38493" y="574979"/>
            <a:ext cx="835001" cy="1078748"/>
          </a:xfrm>
          <a:prstGeom prst="rect">
            <a:avLst/>
          </a:prstGeom>
        </p:spPr>
      </p:pic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3686185" y="6459785"/>
            <a:ext cx="4822804" cy="365125"/>
          </a:xfrm>
        </p:spPr>
        <p:txBody>
          <a:bodyPr/>
          <a:lstStyle/>
          <a:p>
            <a:r>
              <a:rPr lang="en-IN" sz="1100" dirty="0"/>
              <a:t>20CS6202 - DESIGN PROJECT 2</a:t>
            </a:r>
          </a:p>
        </p:txBody>
      </p:sp>
      <p:sp>
        <p:nvSpPr>
          <p:cNvPr id="5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9900458" y="6459785"/>
            <a:ext cx="1312025" cy="365125"/>
          </a:xfrm>
        </p:spPr>
        <p:txBody>
          <a:bodyPr/>
          <a:lstStyle/>
          <a:p>
            <a:fld id="{963B2B34-D4BB-400B-9ED9-C7A04F52518B}" type="slidenum">
              <a:rPr lang="en-IN" smtClean="0"/>
              <a:t>16</a:t>
            </a:fld>
            <a:endParaRPr lang="en-IN" dirty="0"/>
          </a:p>
        </p:txBody>
      </p:sp>
      <p:sp>
        <p:nvSpPr>
          <p:cNvPr id="11" name="TextBox 10"/>
          <p:cNvSpPr txBox="1"/>
          <p:nvPr/>
        </p:nvSpPr>
        <p:spPr>
          <a:xfrm>
            <a:off x="871405" y="6503847"/>
            <a:ext cx="236912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200" dirty="0">
                <a:solidFill>
                  <a:schemeClr val="bg1"/>
                </a:solidFill>
              </a:rPr>
              <a:t>DD/MM/YYYY</a:t>
            </a:r>
          </a:p>
        </p:txBody>
      </p:sp>
      <p:pic>
        <p:nvPicPr>
          <p:cNvPr id="4" name="object 2">
            <a:extLst>
              <a:ext uri="{FF2B5EF4-FFF2-40B4-BE49-F238E27FC236}">
                <a16:creationId xmlns:a16="http://schemas.microsoft.com/office/drawing/2014/main" id="{A652F1CE-5D5E-445A-03D9-0EFA83381696}"/>
              </a:ext>
            </a:extLst>
          </p:cNvPr>
          <p:cNvPicPr>
            <a:picLocks noGrp="1"/>
          </p:cNvPicPr>
          <p:nvPr>
            <p:ph idx="1"/>
          </p:nvPr>
        </p:nvPicPr>
        <p:blipFill>
          <a:blip r:embed="rId4" cstate="print"/>
          <a:stretch>
            <a:fillRect/>
          </a:stretch>
        </p:blipFill>
        <p:spPr>
          <a:xfrm>
            <a:off x="1097280" y="1846263"/>
            <a:ext cx="10573609" cy="4022725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84009F-4C8A-028A-6439-7D13659ECE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0" y="286604"/>
            <a:ext cx="10058400" cy="1050584"/>
          </a:xfrm>
        </p:spPr>
        <p:txBody>
          <a:bodyPr/>
          <a:lstStyle/>
          <a:p>
            <a:r>
              <a:rPr lang="en-IN" sz="4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</a:t>
            </a:r>
            <a:r>
              <a:rPr lang="en-IN" sz="4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OUTPUT</a:t>
            </a:r>
            <a:endParaRPr lang="en-US" sz="4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152F5D6-EFD4-81C5-CD39-4309BF01E1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F24D60-CAE6-46AD-9D0B-C02F7B1293EF}" type="datetime5">
              <a:rPr lang="en-US" smtClean="0"/>
              <a:t>4-Jun-25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E397CE3-F181-B664-C272-EF90C02571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20CS8504 - PROJECT WORK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3D82F43-2537-511E-6AE7-C14CC8822A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3B2B34-D4BB-400B-9ED9-C7A04F52518B}" type="slidenum">
              <a:rPr lang="en-IN" smtClean="0"/>
              <a:t>17</a:t>
            </a:fld>
            <a:endParaRPr lang="en-IN"/>
          </a:p>
        </p:txBody>
      </p:sp>
      <p:pic>
        <p:nvPicPr>
          <p:cNvPr id="7" name="object 2">
            <a:extLst>
              <a:ext uri="{FF2B5EF4-FFF2-40B4-BE49-F238E27FC236}">
                <a16:creationId xmlns:a16="http://schemas.microsoft.com/office/drawing/2014/main" id="{947F2D90-67D7-4759-6652-61F88D3242F1}"/>
              </a:ext>
            </a:extLst>
          </p:cNvPr>
          <p:cNvPicPr>
            <a:picLocks noGrp="1"/>
          </p:cNvPicPr>
          <p:nvPr>
            <p:ph idx="1"/>
          </p:nvPr>
        </p:nvPicPr>
        <p:blipFill>
          <a:blip r:embed="rId2" cstate="print"/>
          <a:stretch>
            <a:fillRect/>
          </a:stretch>
        </p:blipFill>
        <p:spPr>
          <a:xfrm>
            <a:off x="1097280" y="1846263"/>
            <a:ext cx="9865688" cy="4022725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95683458-E99E-9477-3A11-0CACF429A05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7899" y="512048"/>
            <a:ext cx="978762" cy="953928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0AFE38C0-5F48-01E8-B757-AAE01A340FD3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38179" y="449638"/>
            <a:ext cx="835001" cy="10787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1859822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EA9B9E-1A9D-51B5-7556-91D5BB07D2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0" y="348401"/>
            <a:ext cx="10058400" cy="870799"/>
          </a:xfrm>
        </p:spPr>
        <p:txBody>
          <a:bodyPr/>
          <a:lstStyle/>
          <a:p>
            <a:r>
              <a:rPr lang="en-IN" sz="4800" b="1" dirty="0">
                <a:latin typeface="Arial Narrow" panose="020B0606020202030204" pitchFamily="34" charset="0"/>
              </a:rPr>
              <a:t>                             </a:t>
            </a:r>
            <a:r>
              <a:rPr lang="en-IN" sz="4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OUTPUT</a:t>
            </a:r>
            <a:endParaRPr lang="en-US" sz="4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D578FB7-3CD2-CF8B-5C5A-D2E525D385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F24D60-CAE6-46AD-9D0B-C02F7B1293EF}" type="datetime5">
              <a:rPr lang="en-US" smtClean="0"/>
              <a:t>4-Jun-25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0EB4D19-C761-684B-0756-42777750C1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20CS8504 - PROJECT WORK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CDE3EA0-D4CC-1B11-FE67-C761F33346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3B2B34-D4BB-400B-9ED9-C7A04F52518B}" type="slidenum">
              <a:rPr lang="en-IN" smtClean="0"/>
              <a:t>18</a:t>
            </a:fld>
            <a:endParaRPr lang="en-IN"/>
          </a:p>
        </p:txBody>
      </p:sp>
      <p:pic>
        <p:nvPicPr>
          <p:cNvPr id="7" name="object 2">
            <a:extLst>
              <a:ext uri="{FF2B5EF4-FFF2-40B4-BE49-F238E27FC236}">
                <a16:creationId xmlns:a16="http://schemas.microsoft.com/office/drawing/2014/main" id="{471E60D0-D09E-0FE2-7782-63438EBA0583}"/>
              </a:ext>
            </a:extLst>
          </p:cNvPr>
          <p:cNvPicPr>
            <a:picLocks noGrp="1"/>
          </p:cNvPicPr>
          <p:nvPr>
            <p:ph idx="1"/>
          </p:nvPr>
        </p:nvPicPr>
        <p:blipFill>
          <a:blip r:embed="rId2" cstate="print"/>
          <a:stretch>
            <a:fillRect/>
          </a:stretch>
        </p:blipFill>
        <p:spPr>
          <a:xfrm>
            <a:off x="707922" y="1905257"/>
            <a:ext cx="10776155" cy="4022725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2D876B91-05B7-16CA-3BE4-2442204358A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7922" y="410811"/>
            <a:ext cx="978762" cy="953928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E311CA64-CCE4-FF66-AD49-124F626934D4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94982" y="348401"/>
            <a:ext cx="835001" cy="10787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4626830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24946" y="461024"/>
            <a:ext cx="8616334" cy="1045793"/>
          </a:xfrm>
        </p:spPr>
        <p:txBody>
          <a:bodyPr anchor="ctr" anchorCtr="0">
            <a:noAutofit/>
          </a:bodyPr>
          <a:lstStyle/>
          <a:p>
            <a:pPr algn="ctr"/>
            <a:r>
              <a:rPr lang="en-IN" sz="4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 &amp; FUTURE ENHANCEMENT</a:t>
            </a: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7726" y="428069"/>
            <a:ext cx="978762" cy="953928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74975" y="428069"/>
            <a:ext cx="835001" cy="1078748"/>
          </a:xfrm>
          <a:prstGeom prst="rect">
            <a:avLst/>
          </a:prstGeom>
        </p:spPr>
      </p:pic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3686185" y="6459785"/>
            <a:ext cx="4822804" cy="365125"/>
          </a:xfrm>
        </p:spPr>
        <p:txBody>
          <a:bodyPr/>
          <a:lstStyle/>
          <a:p>
            <a:r>
              <a:rPr lang="en-IN" sz="1100" dirty="0"/>
              <a:t>20CS6202 - DESIGN PROJECT 2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9900458" y="6459785"/>
            <a:ext cx="1312025" cy="365125"/>
          </a:xfrm>
        </p:spPr>
        <p:txBody>
          <a:bodyPr/>
          <a:lstStyle/>
          <a:p>
            <a:fld id="{963B2B34-D4BB-400B-9ED9-C7A04F52518B}" type="slidenum">
              <a:rPr lang="en-IN" smtClean="0"/>
              <a:t>19</a:t>
            </a:fld>
            <a:endParaRPr lang="en-IN" dirty="0"/>
          </a:p>
        </p:txBody>
      </p:sp>
      <p:sp>
        <p:nvSpPr>
          <p:cNvPr id="5" name="TextBox 4"/>
          <p:cNvSpPr txBox="1"/>
          <p:nvPr/>
        </p:nvSpPr>
        <p:spPr>
          <a:xfrm>
            <a:off x="871405" y="6503847"/>
            <a:ext cx="236912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200" dirty="0">
                <a:solidFill>
                  <a:schemeClr val="bg1"/>
                </a:solidFill>
              </a:rPr>
              <a:t>DD/MM/YYYY</a:t>
            </a:r>
          </a:p>
        </p:txBody>
      </p:sp>
      <p:sp>
        <p:nvSpPr>
          <p:cNvPr id="13" name="Rectangle 2"/>
          <p:cNvSpPr>
            <a:spLocks noGrp="1" noChangeArrowheads="1"/>
          </p:cNvSpPr>
          <p:nvPr>
            <p:ph idx="1"/>
          </p:nvPr>
        </p:nvSpPr>
        <p:spPr bwMode="auto">
          <a:xfrm>
            <a:off x="789821" y="2961366"/>
            <a:ext cx="10982114" cy="9344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spAutoFit/>
          </a:bodyPr>
          <a:lstStyle/>
          <a:p>
            <a:pPr marL="0" indent="0" algn="just">
              <a:buClr>
                <a:schemeClr val="tx1"/>
              </a:buClr>
              <a:buFont typeface="Wingdings" panose="05000000000000000000" pitchFamily="2" charset="2"/>
              <a:buNone/>
            </a:pPr>
            <a:endParaRPr lang="en-US" sz="2400" dirty="0">
              <a:latin typeface="Arial Narrow" panose="020B0606020202030204" pitchFamily="34" charset="0"/>
            </a:endParaRPr>
          </a:p>
          <a:p>
            <a:pPr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Tx/>
              <a:buFont typeface="Wingdings" panose="05000000000000000000" pitchFamily="2" charset="2"/>
              <a:buChar char="Ø"/>
            </a:pPr>
            <a:endParaRPr kumimoji="0" lang="en-US" altLang="en-US" sz="24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 Narrow" panose="020B0606020202030204" pitchFamily="34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F520EEC-3523-1188-33B9-2D743548CD5D}"/>
              </a:ext>
            </a:extLst>
          </p:cNvPr>
          <p:cNvSpPr txBox="1"/>
          <p:nvPr/>
        </p:nvSpPr>
        <p:spPr>
          <a:xfrm>
            <a:off x="871405" y="2030694"/>
            <a:ext cx="11086915" cy="373031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Promising Early Detection: Machine learning offers effective early detection of mental health issues by analyzing academic, behavioral, and emotional data, enabling timely interventions and improved student support.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Challenges and Limitations: Current systems face real-world challenges such as data privacy concerns, limited integration with existing infrastructure, and reliance on self-reported or incomplete data.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Scope for Future Enhancements: Future improvements include integrating wearable and IoT data, advancing emotion recognition through NLP, and delivering personalized mental health support tailored to each student’s needs.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anchor="ctr" anchorCtr="0">
            <a:normAutofit/>
          </a:bodyPr>
          <a:lstStyle/>
          <a:p>
            <a:pPr algn="ctr"/>
            <a:r>
              <a:rPr lang="en-IN" sz="4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REFERENCES</a:t>
            </a:r>
            <a:r>
              <a:rPr lang="en-IN" sz="4400" b="1" dirty="0">
                <a:latin typeface="Arial Narrow" panose="020B0606020202030204" pitchFamily="34" charset="0"/>
              </a:rPr>
              <a:t>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06583" y="1845733"/>
            <a:ext cx="11035144" cy="4405599"/>
          </a:xfrm>
        </p:spPr>
        <p:txBody>
          <a:bodyPr>
            <a:noAutofit/>
          </a:bodyPr>
          <a:lstStyle/>
          <a:p>
            <a:pPr algn="just">
              <a:lnSpc>
                <a:spcPct val="150000"/>
              </a:lnSpc>
              <a:buClr>
                <a:schemeClr val="tx1">
                  <a:lumMod val="95000"/>
                  <a:lumOff val="5000"/>
                </a:schemeClr>
              </a:buClr>
              <a:buFont typeface="Wingdings" panose="05000000000000000000" pitchFamily="2" charset="2"/>
              <a:buChar char="Ø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Abd Rahman(2023) conducted a systematic review on the application of machine</a:t>
            </a:r>
            <a:r>
              <a:rPr lang="en-US" alt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learning methods in mental health detection. IEEE Access, 8, 183952-183964.</a:t>
            </a:r>
          </a:p>
          <a:p>
            <a:pPr algn="just">
              <a:lnSpc>
                <a:spcPct val="150000"/>
              </a:lnSpc>
              <a:buClr>
                <a:schemeClr val="tx1">
                  <a:lumMod val="95000"/>
                  <a:lumOff val="5000"/>
                </a:schemeClr>
              </a:buClr>
              <a:buFont typeface="Wingdings" panose="05000000000000000000" pitchFamily="2" charset="2"/>
              <a:buChar char="Ø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Tomasik(2023) developed a machine learning algorithm to differentiate bipolar disorder from major depressive disorder using online questionnaires and blood biomarker data. Translational Psychiatry.</a:t>
            </a:r>
          </a:p>
          <a:p>
            <a:pPr algn="just">
              <a:lnSpc>
                <a:spcPct val="150000"/>
              </a:lnSpc>
              <a:buClr>
                <a:schemeClr val="tx1">
                  <a:lumMod val="95000"/>
                  <a:lumOff val="5000"/>
                </a:schemeClr>
              </a:buClr>
              <a:buFont typeface="Wingdings" panose="05000000000000000000" pitchFamily="2" charset="2"/>
              <a:buChar char="Ø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Tao (2024) explored remote patient monitoring using RFID technology and machine learning for the early detection of suicidal 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behavior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sensors</a:t>
            </a:r>
            <a:endParaRPr lang="en-IN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6939" y="410695"/>
            <a:ext cx="978762" cy="953928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77219" y="410695"/>
            <a:ext cx="835001" cy="1078748"/>
          </a:xfrm>
          <a:prstGeom prst="rect">
            <a:avLst/>
          </a:prstGeom>
        </p:spPr>
      </p:pic>
      <p:sp>
        <p:nvSpPr>
          <p:cNvPr id="4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3686185" y="6459785"/>
            <a:ext cx="4822804" cy="365125"/>
          </a:xfrm>
        </p:spPr>
        <p:txBody>
          <a:bodyPr/>
          <a:lstStyle/>
          <a:p>
            <a:r>
              <a:rPr lang="en-IN" sz="1100" dirty="0"/>
              <a:t>20CS6202 - DESIGN PROJECT 2</a:t>
            </a:r>
          </a:p>
        </p:txBody>
      </p:sp>
      <p:sp>
        <p:nvSpPr>
          <p:cNvPr id="5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9900458" y="6459785"/>
            <a:ext cx="1312025" cy="365125"/>
          </a:xfrm>
        </p:spPr>
        <p:txBody>
          <a:bodyPr/>
          <a:lstStyle/>
          <a:p>
            <a:fld id="{963B2B34-D4BB-400B-9ED9-C7A04F52518B}" type="slidenum">
              <a:rPr lang="en-IN" smtClean="0"/>
              <a:t>20</a:t>
            </a:fld>
            <a:endParaRPr lang="en-IN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0755" y="540502"/>
            <a:ext cx="978762" cy="953928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18799" y="540502"/>
            <a:ext cx="835001" cy="1078748"/>
          </a:xfrm>
          <a:prstGeom prst="rect">
            <a:avLst/>
          </a:prstGeom>
        </p:spPr>
      </p:pic>
      <p:pic>
        <p:nvPicPr>
          <p:cNvPr id="2" name="Picture 2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82549" y="1619250"/>
            <a:ext cx="9525000" cy="38481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3686185" y="6459785"/>
            <a:ext cx="4822804" cy="365125"/>
          </a:xfrm>
        </p:spPr>
        <p:txBody>
          <a:bodyPr/>
          <a:lstStyle/>
          <a:p>
            <a:r>
              <a:rPr lang="en-IN" sz="1100" dirty="0"/>
              <a:t>20CS6202 - DESIGN PROJECT 2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9900458" y="6459785"/>
            <a:ext cx="1312025" cy="365125"/>
          </a:xfrm>
        </p:spPr>
        <p:txBody>
          <a:bodyPr/>
          <a:lstStyle/>
          <a:p>
            <a:fld id="{963B2B34-D4BB-400B-9ED9-C7A04F52518B}" type="slidenum">
              <a:rPr lang="en-IN" smtClean="0"/>
              <a:t>21</a:t>
            </a:fld>
            <a:endParaRPr lang="en-IN" dirty="0"/>
          </a:p>
        </p:txBody>
      </p:sp>
      <p:sp>
        <p:nvSpPr>
          <p:cNvPr id="10" name="TextBox 9"/>
          <p:cNvSpPr txBox="1"/>
          <p:nvPr/>
        </p:nvSpPr>
        <p:spPr>
          <a:xfrm>
            <a:off x="871405" y="6503847"/>
            <a:ext cx="236912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200" dirty="0">
                <a:solidFill>
                  <a:schemeClr val="bg1"/>
                </a:solidFill>
              </a:rPr>
              <a:t>DD/MM/YYYY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Retrospect">
  <a:themeElements>
    <a:clrScheme name="Retrospect">
      <a:dk1>
        <a:srgbClr val="000000"/>
      </a:dk1>
      <a:lt1>
        <a:sysClr val="window" lastClr="FFFFFF"/>
      </a:lt1>
      <a:dk2>
        <a:srgbClr val="637052"/>
      </a:dk2>
      <a:lt2>
        <a:srgbClr val="CCDDEA"/>
      </a:lt2>
      <a:accent1>
        <a:srgbClr val="E48312"/>
      </a:accent1>
      <a:accent2>
        <a:srgbClr val="BD582C"/>
      </a:accent2>
      <a:accent3>
        <a:srgbClr val="865640"/>
      </a:accent3>
      <a:accent4>
        <a:srgbClr val="9B8357"/>
      </a:accent4>
      <a:accent5>
        <a:srgbClr val="C2BC80"/>
      </a:accent5>
      <a:accent6>
        <a:srgbClr val="94A088"/>
      </a:accent6>
      <a:hlink>
        <a:srgbClr val="2998E3"/>
      </a:hlink>
      <a:folHlink>
        <a:srgbClr val="8C8C8C"/>
      </a:folHlink>
    </a:clrScheme>
    <a:fontScheme name="Retrospect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200</TotalTime>
  <Words>1410</Words>
  <Application>Microsoft Office PowerPoint</Application>
  <PresentationFormat>Widescreen</PresentationFormat>
  <Paragraphs>190</Paragraphs>
  <Slides>21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21</vt:i4>
      </vt:variant>
    </vt:vector>
  </HeadingPairs>
  <TitlesOfParts>
    <vt:vector size="30" baseType="lpstr">
      <vt:lpstr>Aptos</vt:lpstr>
      <vt:lpstr>Arial</vt:lpstr>
      <vt:lpstr>Arial Narrow</vt:lpstr>
      <vt:lpstr>Calibri</vt:lpstr>
      <vt:lpstr>Calibri Light</vt:lpstr>
      <vt:lpstr>Times New Roman</vt:lpstr>
      <vt:lpstr>Wingdings</vt:lpstr>
      <vt:lpstr>Retrospect</vt:lpstr>
      <vt:lpstr>Office Theme</vt:lpstr>
      <vt:lpstr>PowerPoint Presentation</vt:lpstr>
      <vt:lpstr>ABSTRACT</vt:lpstr>
      <vt:lpstr>OBJECTIVE</vt:lpstr>
      <vt:lpstr>LITERATURE SURVEY</vt:lpstr>
      <vt:lpstr>LITERATURE SURVEY</vt:lpstr>
      <vt:lpstr>LITERATURE SURVEY</vt:lpstr>
      <vt:lpstr>EXISTING SYSTEM</vt:lpstr>
      <vt:lpstr>PROPOSED SYSTEM </vt:lpstr>
      <vt:lpstr>SYSTEM ARCHITECTURE</vt:lpstr>
      <vt:lpstr>MODULE 1 : DATA EXPLORATION </vt:lpstr>
      <vt:lpstr>MODULE 2 : DATA CLEANING</vt:lpstr>
      <vt:lpstr>MODULE 3 : MODEL SELECTION &amp; OPTIMIZATION MODULE </vt:lpstr>
      <vt:lpstr>MODULE 4 : TRAINING AND VALIDATION</vt:lpstr>
      <vt:lpstr>MODULE 5 : TESTING</vt:lpstr>
      <vt:lpstr>OUTPUT</vt:lpstr>
      <vt:lpstr>OUTPUT</vt:lpstr>
      <vt:lpstr>                         OUTPUT</vt:lpstr>
      <vt:lpstr>                             OUTPUT</vt:lpstr>
      <vt:lpstr>CONCLUSION &amp; FUTURE ENHANCEMENT</vt:lpstr>
      <vt:lpstr>REFERENCES 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Matheswaran P</dc:creator>
  <cp:lastModifiedBy>swetha M</cp:lastModifiedBy>
  <cp:revision>18</cp:revision>
  <dcterms:created xsi:type="dcterms:W3CDTF">2025-05-09T08:00:00Z</dcterms:created>
  <dcterms:modified xsi:type="dcterms:W3CDTF">2025-06-04T04:12:24Z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DD0DE9F3738041E2B63F09719006DDFE_13</vt:lpwstr>
  </property>
  <property fmtid="{D5CDD505-2E9C-101B-9397-08002B2CF9AE}" pid="3" name="KSOProductBuildVer">
    <vt:lpwstr>1033-12.2.0.21179</vt:lpwstr>
  </property>
</Properties>
</file>